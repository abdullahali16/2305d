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Outfit"/>
      <p:regular r:id="rId17"/>
    </p:embeddedFont>
    <p:embeddedFont>
      <p:font typeface="Outfit"/>
      <p:regular r:id="rId18"/>
    </p:embeddedFont>
    <p:embeddedFont>
      <p:font typeface="Bitter"/>
      <p:regular r:id="rId19"/>
    </p:embeddedFont>
    <p:embeddedFont>
      <p:font typeface="Bitter"/>
      <p:regular r:id="rId20"/>
    </p:embeddedFont>
    <p:embeddedFont>
      <p:font typeface="Bitter"/>
      <p:regular r:id="rId21"/>
    </p:embeddedFont>
    <p:embeddedFont>
      <p:font typeface="Bit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Hadoop – What It Is &amp; Core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Understanding the distributed framework powering big data processing at scale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768"/>
            <a:ext cx="58858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Hadoop Really Is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98175"/>
            <a:ext cx="6407944" cy="2395657"/>
          </a:xfrm>
          <a:prstGeom prst="roundRect">
            <a:avLst>
              <a:gd name="adj" fmla="val 1420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724989"/>
            <a:ext cx="3046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Distributed Framework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215408"/>
            <a:ext cx="59543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Batch-oriented processing for big data workloads. According to the 2024 Cloudera report, Hadoop clusters process over 150 petabytes of data daily across enterprise environments.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3498175"/>
            <a:ext cx="6408063" cy="2395657"/>
          </a:xfrm>
          <a:prstGeom prst="roundRect">
            <a:avLst>
              <a:gd name="adj" fmla="val 1420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724989"/>
            <a:ext cx="28958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Commodity Hardware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4215408"/>
            <a:ext cx="59544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Runs on affordable, off-the-shelf servers rather than expensive specialized equipment. Typical deployment: 30-40 servers per rack with 3 Gbps uplink and 1 Gbps intra-rack connectivity.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4604"/>
            <a:ext cx="72415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The Three Pillars of Hadoop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7613" y="1807012"/>
            <a:ext cx="7115175" cy="577798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7478" y="3906746"/>
            <a:ext cx="652129" cy="65212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94345" y="6000077"/>
            <a:ext cx="1969427" cy="36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HDFS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9054" y="3293745"/>
            <a:ext cx="652129" cy="65212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42210" y="5400120"/>
            <a:ext cx="1917257" cy="36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MapReduce</a:t>
            </a:r>
            <a:endParaRPr lang="en-US" sz="2300" dirty="0"/>
          </a:p>
        </p:txBody>
      </p:sp>
      <p:sp>
        <p:nvSpPr>
          <p:cNvPr id="8" name="Text 3"/>
          <p:cNvSpPr/>
          <p:nvPr/>
        </p:nvSpPr>
        <p:spPr>
          <a:xfrm>
            <a:off x="8650745" y="4787119"/>
            <a:ext cx="1969427" cy="36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YARN</a:t>
            </a:r>
            <a:endParaRPr lang="en-US" sz="2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00630" y="2680745"/>
            <a:ext cx="652128" cy="652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8588573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HDFS – Distributed Storage Engine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409831"/>
            <a:ext cx="8351996" cy="254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Files are split into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64 MB blocks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(default size) and replicated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 times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fault tolerance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Rack awareness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strategy: replica 1 on local node, replica 2 on different rack, replica 3 on another node in that remote rack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Metadata stored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memory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on NameNode; DataNodes send block reports every 30 seconds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Scales to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10+ PB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10,000 nodes</a:t>
            </a:r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(Hadoop 3.4.0 benchmark)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5261"/>
            <a:ext cx="101675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MapReduce – Parallel Batch 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476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0271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77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Map Phase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26743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Input data is split into key/value pairs and processed in parallel across worker nodes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2476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60271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777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Shuffle &amp; Sort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26743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Framework automatically transfers intermediate data from mappers to reducers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2476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60271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777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Reduce Phase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267438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Results are aggregated and combined; common use cases include word counting and log aggregation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7813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MapReduce job is executed as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single application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managed by YARN's ApplicationMaster.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973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YARN – Resource Management &amp; Scheduling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7453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27347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ResourceManager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3225165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Master daemon that makes global decisions about CPU, memory, and container allocation across the entire cluster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435078"/>
            <a:ext cx="7556421" cy="1730812"/>
          </a:xfrm>
          <a:prstGeom prst="roundRect">
            <a:avLst>
              <a:gd name="adj" fmla="val 196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084" y="46923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NodeManager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5182791"/>
            <a:ext cx="70418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Per-node agent that launches containers, monitors resource usage, and sends heartbeats every 3 seconds to ResourceManager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2104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Supports multiple schedulers (Capacity, Fair, FIFO) for multi-tenant workloads. Enables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non-MapReduce engines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like Spark and Flink to share the same cluster infrastructure.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7429" y="479346"/>
            <a:ext cx="4449485" cy="54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Architecture Concepts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37429" y="1073587"/>
            <a:ext cx="5023485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Master-Slave, Cluster, Nodes, and Rack Awareness</a:t>
            </a:r>
            <a:endParaRPr lang="en-US" sz="1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429" y="1542693"/>
            <a:ext cx="11955423" cy="6207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65553" y="3975584"/>
            <a:ext cx="1475294" cy="132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Hadoop Cluster Architecture</a:t>
            </a:r>
            <a:endParaRPr lang="en-US" sz="2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9842" y="3188884"/>
            <a:ext cx="300222" cy="3002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20371" y="2823749"/>
            <a:ext cx="2584714" cy="33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Master Node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620371" y="3250109"/>
            <a:ext cx="2584714" cy="93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NameNode and ResourceManager coordinating metadata and cluster resources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0424920" y="2823749"/>
            <a:ext cx="2584714" cy="33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Slave Nodes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10424920" y="3250109"/>
            <a:ext cx="2584714" cy="93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Multiple DataNode and NodeManager instances storing data and running tasks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6009" y="2551557"/>
            <a:ext cx="300222" cy="300222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65131" y="5761795"/>
            <a:ext cx="300222" cy="3002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20371" y="5585498"/>
            <a:ext cx="2584714" cy="66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Three-Rack Topology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1620371" y="6343798"/>
            <a:ext cx="2584714" cy="70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Rack symbols show distribution across three racks for fault isolation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0424920" y="5585498"/>
            <a:ext cx="2584714" cy="33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Replica Placement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10424920" y="6011857"/>
            <a:ext cx="2584714" cy="70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Replicas placed across racks to ensure availability if a rack fails</a:t>
            </a:r>
            <a:endParaRPr lang="en-US" sz="16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1068" y="6741390"/>
            <a:ext cx="300222" cy="3002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882" y="645319"/>
            <a:ext cx="5477947" cy="684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Four Core Node Roles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6882" y="1753314"/>
            <a:ext cx="6442472" cy="2809637"/>
          </a:xfrm>
          <a:prstGeom prst="roundRect">
            <a:avLst>
              <a:gd name="adj" fmla="val 1170"/>
            </a:avLst>
          </a:prstGeom>
          <a:solidFill>
            <a:srgbClr val="3B3C3E"/>
          </a:solidFill>
          <a:ln/>
        </p:spPr>
      </p:sp>
      <p:sp>
        <p:nvSpPr>
          <p:cNvPr id="4" name="Shape 2"/>
          <p:cNvSpPr/>
          <p:nvPr/>
        </p:nvSpPr>
        <p:spPr>
          <a:xfrm>
            <a:off x="985957" y="1972389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9FA5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6693" y="2153126"/>
            <a:ext cx="295751" cy="2957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5957" y="2841308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NameNode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85957" y="3310533"/>
            <a:ext cx="6004322" cy="1033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Master of HDFS metadata. Maintains the filesystem namespace and block location map in RAM. Single point of coordination for all file operations.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0928" y="1753314"/>
            <a:ext cx="6442591" cy="2809637"/>
          </a:xfrm>
          <a:prstGeom prst="roundRect">
            <a:avLst>
              <a:gd name="adj" fmla="val 1170"/>
            </a:avLst>
          </a:prstGeom>
          <a:solidFill>
            <a:srgbClr val="3B3C3E"/>
          </a:solidFill>
          <a:ln/>
        </p:spPr>
      </p:sp>
      <p:sp>
        <p:nvSpPr>
          <p:cNvPr id="9" name="Shape 6"/>
          <p:cNvSpPr/>
          <p:nvPr/>
        </p:nvSpPr>
        <p:spPr>
          <a:xfrm>
            <a:off x="7640003" y="1972389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9FA5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0739" y="2153126"/>
            <a:ext cx="295751" cy="2957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40003" y="2841308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DataNode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40003" y="3310533"/>
            <a:ext cx="6004441" cy="1033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Stores actual block data on disk. Sends periodic heartbeats and block reports. Serves client read and write requests directly.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66882" y="4774525"/>
            <a:ext cx="6442472" cy="2809637"/>
          </a:xfrm>
          <a:prstGeom prst="roundRect">
            <a:avLst>
              <a:gd name="adj" fmla="val 1170"/>
            </a:avLst>
          </a:prstGeom>
          <a:solidFill>
            <a:srgbClr val="3B3C3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5957" y="4993600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9FA5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6693" y="5174337"/>
            <a:ext cx="295751" cy="2957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5957" y="5862518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ResourceManager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5957" y="6331744"/>
            <a:ext cx="6004322" cy="1033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Global scheduler for the entire cluster. Tracks available resources, launches ApplicationMasters, and makes allocation decisions.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0928" y="4774525"/>
            <a:ext cx="6442591" cy="2809637"/>
          </a:xfrm>
          <a:prstGeom prst="roundRect">
            <a:avLst>
              <a:gd name="adj" fmla="val 1170"/>
            </a:avLst>
          </a:prstGeom>
          <a:solidFill>
            <a:srgbClr val="3B3C3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40003" y="4993600"/>
            <a:ext cx="657344" cy="657344"/>
          </a:xfrm>
          <a:prstGeom prst="roundRect">
            <a:avLst>
              <a:gd name="adj" fmla="val 13909134"/>
            </a:avLst>
          </a:prstGeom>
          <a:solidFill>
            <a:srgbClr val="9FA5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0739" y="5174337"/>
            <a:ext cx="295751" cy="2957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40003" y="5862518"/>
            <a:ext cx="2738914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NodeManager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40003" y="6331744"/>
            <a:ext cx="6004441" cy="1033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Per-node daemon managing local resources. Launches containers, monitors CPU/memory usage, and reports to ResourceManager.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0784"/>
            <a:ext cx="100667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Secondary NameNode – NOT a Backup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3191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2A2C2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3009662"/>
            <a:ext cx="283488" cy="2268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95667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Common misconception: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The Secondary NameNode is often mistaken for a backup or failover node. This is incorrect.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818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It Actually Does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06301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Performs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periodic checkpointing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: merges the EditLog (transaction log) into a new FsImage (filesystem snapshot) every hour by default. This reduces startup time after a NameNode restart.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4481870"/>
            <a:ext cx="29357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High Availability Setup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506301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True HA requires an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Active + Standby NameNode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pair coordinated by Zookeeper. Losing the Secondary NameNode doesn't endanger data; losing the active NameNode without a standby does.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64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Quick Quiz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08866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339346"/>
            <a:ext cx="4135398" cy="68044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346686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42466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Resource Allocation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73702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Which Hadoop component is responsible for resource allocation across the cluster?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308866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3339346"/>
            <a:ext cx="4135398" cy="68044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346686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4246602"/>
            <a:ext cx="31242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Rack-Aware Replication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73702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default rack-aware replication, where are the three replicas placed?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308866"/>
            <a:ext cx="4196358" cy="2774156"/>
          </a:xfrm>
          <a:prstGeom prst="roundRect">
            <a:avLst>
              <a:gd name="adj" fmla="val 122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3339346"/>
            <a:ext cx="4135398" cy="680442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346686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4246602"/>
            <a:ext cx="2921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Secondary NameNode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737021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True or False: The Secondary NameNode acts as a live backup for the NameNode.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2026-03-09T02:54:13Z</dcterms:created>
  <dcterms:modified xsi:type="dcterms:W3CDTF">2026-03-09T02:54:13Z</dcterms:modified>
</cp:coreProperties>
</file>