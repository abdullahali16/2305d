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IBM Plex Sans Medium"/>
      <p:regular r:id="rId15"/>
    </p:embeddedFont>
    <p:embeddedFont>
      <p:font typeface="IBM Plex Sans Medium"/>
      <p:regular r:id="rId16"/>
    </p:embeddedFont>
    <p:embeddedFont>
      <p:font typeface="IBM Plex Sans Medium"/>
      <p:regular r:id="rId17"/>
    </p:embeddedFont>
    <p:embeddedFont>
      <p:font typeface="IBM Plex Sans Medium"/>
      <p:regular r:id="rId18"/>
    </p:embeddedFont>
    <p:embeddedFont>
      <p:font typeface="Roboto"/>
      <p:regular r:id="rId19"/>
    </p:embeddedFont>
    <p:embeddedFont>
      <p:font typeface="Roboto"/>
      <p:regular r:id="rId20"/>
    </p:embeddedFont>
    <p:embeddedFont>
      <p:font typeface="Roboto"/>
      <p:regular r:id="rId21"/>
    </p:embeddedFont>
    <p:embeddedFont>
      <p:font typeface="Roboto"/>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1F1F1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8.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700099"/>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The Four Pillars of Object-Oriented Programming in Python</a:t>
            </a:r>
            <a:endParaRPr lang="en-US" sz="4450" dirty="0"/>
          </a:p>
        </p:txBody>
      </p:sp>
      <p:sp>
        <p:nvSpPr>
          <p:cNvPr id="4" name="Text 1"/>
          <p:cNvSpPr/>
          <p:nvPr/>
        </p:nvSpPr>
        <p:spPr>
          <a:xfrm>
            <a:off x="793790" y="5166598"/>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Unlocking the power of efficient, reusable, and maintainable code.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96246"/>
            <a:ext cx="11845885"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What is Object-Oriented Programming (OOP)?</a:t>
            </a:r>
            <a:endParaRPr lang="en-US" sz="4450" dirty="0"/>
          </a:p>
        </p:txBody>
      </p:sp>
      <p:pic>
        <p:nvPicPr>
          <p:cNvPr id="3" name="Image 0" descr="preencoded.png">    </p:cNvPr>
          <p:cNvPicPr>
            <a:picLocks noChangeAspect="1"/>
          </p:cNvPicPr>
          <p:nvPr/>
        </p:nvPicPr>
        <p:blipFill>
          <a:blip r:embed="rId1"/>
          <a:stretch>
            <a:fillRect/>
          </a:stretch>
        </p:blipFill>
        <p:spPr>
          <a:xfrm>
            <a:off x="793790" y="2558653"/>
            <a:ext cx="2411968" cy="2411968"/>
          </a:xfrm>
          <a:prstGeom prst="rect">
            <a:avLst/>
          </a:prstGeom>
        </p:spPr>
      </p:pic>
      <p:sp>
        <p:nvSpPr>
          <p:cNvPr id="4" name="Text 1"/>
          <p:cNvSpPr/>
          <p:nvPr/>
        </p:nvSpPr>
        <p:spPr>
          <a:xfrm>
            <a:off x="793790" y="525410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Structured Code</a:t>
            </a:r>
            <a:endParaRPr lang="en-US" sz="2200" dirty="0"/>
          </a:p>
        </p:txBody>
      </p:sp>
      <p:sp>
        <p:nvSpPr>
          <p:cNvPr id="5" name="Text 2"/>
          <p:cNvSpPr/>
          <p:nvPr/>
        </p:nvSpPr>
        <p:spPr>
          <a:xfrm>
            <a:off x="793790" y="5744528"/>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A programming paradigm organizing code into objects and classes, creating logical and manageable structures.</a:t>
            </a:r>
            <a:endParaRPr lang="en-US" sz="1750" dirty="0"/>
          </a:p>
        </p:txBody>
      </p:sp>
      <p:pic>
        <p:nvPicPr>
          <p:cNvPr id="6" name="Image 1" descr="preencoded.png">    </p:cNvPr>
          <p:cNvPicPr>
            <a:picLocks noChangeAspect="1"/>
          </p:cNvPicPr>
          <p:nvPr/>
        </p:nvPicPr>
        <p:blipFill>
          <a:blip r:embed="rId2"/>
          <a:stretch>
            <a:fillRect/>
          </a:stretch>
        </p:blipFill>
        <p:spPr>
          <a:xfrm>
            <a:off x="5235893" y="2558653"/>
            <a:ext cx="2411968" cy="2411968"/>
          </a:xfrm>
          <a:prstGeom prst="rect">
            <a:avLst/>
          </a:prstGeom>
        </p:spPr>
      </p:pic>
      <p:sp>
        <p:nvSpPr>
          <p:cNvPr id="7" name="Text 3"/>
          <p:cNvSpPr/>
          <p:nvPr/>
        </p:nvSpPr>
        <p:spPr>
          <a:xfrm>
            <a:off x="5235893" y="525410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Real-World Modeling</a:t>
            </a:r>
            <a:endParaRPr lang="en-US" sz="2200" dirty="0"/>
          </a:p>
        </p:txBody>
      </p:sp>
      <p:sp>
        <p:nvSpPr>
          <p:cNvPr id="8" name="Text 4"/>
          <p:cNvSpPr/>
          <p:nvPr/>
        </p:nvSpPr>
        <p:spPr>
          <a:xfrm>
            <a:off x="5235893" y="5744528"/>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Models real-world entities with attributes (data) and behaviors (methods), mirroring how objects interact.</a:t>
            </a:r>
            <a:endParaRPr lang="en-US" sz="1750" dirty="0"/>
          </a:p>
        </p:txBody>
      </p:sp>
      <p:pic>
        <p:nvPicPr>
          <p:cNvPr id="9" name="Image 2" descr="preencoded.png">    </p:cNvPr>
          <p:cNvPicPr>
            <a:picLocks noChangeAspect="1"/>
          </p:cNvPicPr>
          <p:nvPr/>
        </p:nvPicPr>
        <p:blipFill>
          <a:blip r:embed="rId3"/>
          <a:stretch>
            <a:fillRect/>
          </a:stretch>
        </p:blipFill>
        <p:spPr>
          <a:xfrm>
            <a:off x="9677995" y="2558653"/>
            <a:ext cx="2411968" cy="2411968"/>
          </a:xfrm>
          <a:prstGeom prst="rect">
            <a:avLst/>
          </a:prstGeom>
        </p:spPr>
      </p:pic>
      <p:sp>
        <p:nvSpPr>
          <p:cNvPr id="10" name="Text 5"/>
          <p:cNvSpPr/>
          <p:nvPr/>
        </p:nvSpPr>
        <p:spPr>
          <a:xfrm>
            <a:off x="9677995" y="5254109"/>
            <a:ext cx="3530560"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Efficiency &amp; Maintainability</a:t>
            </a:r>
            <a:endParaRPr lang="en-US" sz="2200" dirty="0"/>
          </a:p>
        </p:txBody>
      </p:sp>
      <p:sp>
        <p:nvSpPr>
          <p:cNvPr id="11" name="Text 6"/>
          <p:cNvSpPr/>
          <p:nvPr/>
        </p:nvSpPr>
        <p:spPr>
          <a:xfrm>
            <a:off x="9677995" y="5744528"/>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Enables modular, reusable, and maintainable code, leading to more robust and scalable applications.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77954"/>
            <a:ext cx="5821799"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Pillar 1: Encapsulation</a:t>
            </a:r>
            <a:endParaRPr lang="en-US" sz="4450" dirty="0"/>
          </a:p>
        </p:txBody>
      </p:sp>
      <p:sp>
        <p:nvSpPr>
          <p:cNvPr id="3" name="Text 1"/>
          <p:cNvSpPr/>
          <p:nvPr/>
        </p:nvSpPr>
        <p:spPr>
          <a:xfrm>
            <a:off x="793790" y="205370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Core Concept</a:t>
            </a:r>
            <a:endParaRPr lang="en-US" sz="2650" dirty="0"/>
          </a:p>
        </p:txBody>
      </p:sp>
      <p:sp>
        <p:nvSpPr>
          <p:cNvPr id="4" name="Text 2"/>
          <p:cNvSpPr/>
          <p:nvPr/>
        </p:nvSpPr>
        <p:spPr>
          <a:xfrm>
            <a:off x="793790" y="2705814"/>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Encapsulation is the bundling of data and methods that operate on the data within a single unit, or object. It hides the internal state of an object from the outside world.</a:t>
            </a:r>
            <a:endParaRPr lang="en-US" sz="1750" dirty="0"/>
          </a:p>
        </p:txBody>
      </p:sp>
      <p:sp>
        <p:nvSpPr>
          <p:cNvPr id="5" name="Text 3"/>
          <p:cNvSpPr/>
          <p:nvPr/>
        </p:nvSpPr>
        <p:spPr>
          <a:xfrm>
            <a:off x="793790" y="402133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Why It Matters</a:t>
            </a:r>
            <a:endParaRPr lang="en-US" sz="2650" dirty="0"/>
          </a:p>
        </p:txBody>
      </p:sp>
      <p:sp>
        <p:nvSpPr>
          <p:cNvPr id="6" name="Text 4"/>
          <p:cNvSpPr/>
          <p:nvPr/>
        </p:nvSpPr>
        <p:spPr>
          <a:xfrm>
            <a:off x="793790" y="4673441"/>
            <a:ext cx="6244709" cy="2698909"/>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D4D4D1"/>
                </a:solidFill>
                <a:latin typeface="Roboto" pitchFamily="34" charset="0"/>
                <a:ea typeface="Roboto" pitchFamily="34" charset="-122"/>
                <a:cs typeface="Roboto" pitchFamily="34" charset="-120"/>
              </a:rPr>
              <a:t>Data Protection:</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Prevents direct access to data, reducing the risk of accidental modification.</a:t>
            </a:r>
            <a:endParaRPr lang="en-US" sz="1750" dirty="0"/>
          </a:p>
          <a:p>
            <a:pPr algn="l" marL="342900" indent="-342900">
              <a:lnSpc>
                <a:spcPts val="2850"/>
              </a:lnSpc>
              <a:buSzPct val="100000"/>
              <a:buChar char="•"/>
            </a:pPr>
            <a:r>
              <a:rPr lang="en-US" sz="1750" b="1" dirty="0">
                <a:solidFill>
                  <a:srgbClr val="D4D4D1"/>
                </a:solidFill>
                <a:latin typeface="Roboto" pitchFamily="34" charset="0"/>
                <a:ea typeface="Roboto" pitchFamily="34" charset="-122"/>
                <a:cs typeface="Roboto" pitchFamily="34" charset="-120"/>
              </a:rPr>
              <a:t>Code Predictability:</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Ensures data is always in a valid state, as changes are controlled through defined methods.</a:t>
            </a:r>
            <a:endParaRPr lang="en-US" sz="1750" dirty="0"/>
          </a:p>
          <a:p>
            <a:pPr algn="l" marL="342900" indent="-342900">
              <a:lnSpc>
                <a:spcPts val="2850"/>
              </a:lnSpc>
              <a:buSzPct val="100000"/>
              <a:buChar char="•"/>
            </a:pPr>
            <a:r>
              <a:rPr lang="en-US" sz="1750" b="1" dirty="0">
                <a:solidFill>
                  <a:srgbClr val="D4D4D1"/>
                </a:solidFill>
                <a:latin typeface="Roboto" pitchFamily="34" charset="0"/>
                <a:ea typeface="Roboto" pitchFamily="34" charset="-122"/>
                <a:cs typeface="Roboto" pitchFamily="34" charset="-120"/>
              </a:rPr>
              <a:t>Modularity:</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Allows changes to the internal implementation without affecting external code that uses the object.</a:t>
            </a:r>
            <a:endParaRPr lang="en-US" sz="1750" dirty="0"/>
          </a:p>
        </p:txBody>
      </p:sp>
      <p:sp>
        <p:nvSpPr>
          <p:cNvPr id="7" name="Text 5"/>
          <p:cNvSpPr/>
          <p:nvPr/>
        </p:nvSpPr>
        <p:spPr>
          <a:xfrm>
            <a:off x="7599521" y="205370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In Python</a:t>
            </a:r>
            <a:endParaRPr lang="en-US" sz="2650" dirty="0"/>
          </a:p>
        </p:txBody>
      </p:sp>
      <p:sp>
        <p:nvSpPr>
          <p:cNvPr id="8" name="Text 6"/>
          <p:cNvSpPr/>
          <p:nvPr/>
        </p:nvSpPr>
        <p:spPr>
          <a:xfrm>
            <a:off x="7599521" y="2705814"/>
            <a:ext cx="6244709" cy="1466850"/>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Python uses conventions like leading underscores ( </a:t>
            </a:r>
            <a:pPr algn="l" indent="0" marL="0">
              <a:lnSpc>
                <a:spcPts val="2850"/>
              </a:lnSpc>
              <a:buNone/>
            </a:pPr>
            <a:r>
              <a:rPr lang="en-US" sz="1750" dirty="0">
                <a:solidFill>
                  <a:srgbClr val="D4D4D1"/>
                </a:solidFill>
                <a:highlight>
                  <a:srgbClr val="36393F"/>
                </a:highlight>
                <a:latin typeface="Consolas" pitchFamily="34" charset="0"/>
                <a:ea typeface="Consolas" pitchFamily="34" charset="-122"/>
                <a:cs typeface="Consolas" pitchFamily="34" charset="-120"/>
              </a:rPr>
              <a:t>_variable</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for protected, </a:t>
            </a:r>
            <a:pPr algn="l" indent="0" marL="0">
              <a:lnSpc>
                <a:spcPts val="2850"/>
              </a:lnSpc>
              <a:buNone/>
            </a:pPr>
            <a:r>
              <a:rPr lang="en-US" sz="1750" dirty="0">
                <a:solidFill>
                  <a:srgbClr val="D4D4D1"/>
                </a:solidFill>
                <a:highlight>
                  <a:srgbClr val="36393F"/>
                </a:highlight>
                <a:latin typeface="Consolas" pitchFamily="34" charset="0"/>
                <a:ea typeface="Consolas" pitchFamily="34" charset="-122"/>
                <a:cs typeface="Consolas" pitchFamily="34" charset="-120"/>
              </a:rPr>
              <a:t>__variable</a:t>
            </a:r>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 for private) to suggest encapsulation, though it doesn't enforce strict private access like some other languages.</a:t>
            </a:r>
            <a:endParaRPr lang="en-US" sz="1750" dirty="0"/>
          </a:p>
        </p:txBody>
      </p:sp>
      <p:sp>
        <p:nvSpPr>
          <p:cNvPr id="9" name="Text 7"/>
          <p:cNvSpPr/>
          <p:nvPr/>
        </p:nvSpPr>
        <p:spPr>
          <a:xfrm>
            <a:off x="7599521" y="4376738"/>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We use properties (getters and setters) to provide controlled access to attributes, ensuring data validation and integrity.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8670" y="630198"/>
            <a:ext cx="5634157" cy="704255"/>
          </a:xfrm>
          <a:prstGeom prst="rect">
            <a:avLst/>
          </a:prstGeom>
          <a:noFill/>
          <a:ln/>
        </p:spPr>
        <p:txBody>
          <a:bodyPr wrap="none" lIns="0" tIns="0" rIns="0" bIns="0" rtlCol="0" anchor="t"/>
          <a:lstStyle/>
          <a:p>
            <a:pPr algn="l" indent="0" marL="0">
              <a:lnSpc>
                <a:spcPts val="5500"/>
              </a:lnSpc>
              <a:buNone/>
            </a:pPr>
            <a:r>
              <a:rPr lang="en-US" sz="4400" dirty="0">
                <a:solidFill>
                  <a:srgbClr val="F3F3F2"/>
                </a:solidFill>
                <a:latin typeface="IBM Plex Sans Medium" pitchFamily="34" charset="0"/>
                <a:ea typeface="IBM Plex Sans Medium" pitchFamily="34" charset="-122"/>
                <a:cs typeface="IBM Plex Sans Medium" pitchFamily="34" charset="-120"/>
              </a:rPr>
              <a:t>Pillar 2: Abstraction</a:t>
            </a:r>
            <a:endParaRPr lang="en-US" sz="4400" dirty="0"/>
          </a:p>
        </p:txBody>
      </p:sp>
      <p:sp>
        <p:nvSpPr>
          <p:cNvPr id="3" name="Text 1"/>
          <p:cNvSpPr/>
          <p:nvPr/>
        </p:nvSpPr>
        <p:spPr>
          <a:xfrm>
            <a:off x="788670" y="1894046"/>
            <a:ext cx="3380423" cy="422434"/>
          </a:xfrm>
          <a:prstGeom prst="rect">
            <a:avLst/>
          </a:prstGeom>
          <a:noFill/>
          <a:ln/>
        </p:spPr>
        <p:txBody>
          <a:bodyPr wrap="non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Core Concept</a:t>
            </a:r>
            <a:endParaRPr lang="en-US" sz="2650" dirty="0"/>
          </a:p>
        </p:txBody>
      </p:sp>
      <p:sp>
        <p:nvSpPr>
          <p:cNvPr id="4" name="Text 2"/>
          <p:cNvSpPr/>
          <p:nvPr/>
        </p:nvSpPr>
        <p:spPr>
          <a:xfrm>
            <a:off x="788670" y="2540318"/>
            <a:ext cx="6251615" cy="1437799"/>
          </a:xfrm>
          <a:prstGeom prst="rect">
            <a:avLst/>
          </a:prstGeom>
          <a:noFill/>
          <a:ln/>
        </p:spPr>
        <p:txBody>
          <a:bodyPr wrap="square" lIns="0" tIns="0" rIns="0" bIns="0" rtlCol="0" anchor="t"/>
          <a:lstStyle/>
          <a:p>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Abstraction focuses on showing only essential information and hiding the complex implementation details. It allows you to model real-world objects into simpler, more manageable classes.</a:t>
            </a:r>
            <a:endParaRPr lang="en-US" sz="1750" dirty="0"/>
          </a:p>
        </p:txBody>
      </p:sp>
      <p:sp>
        <p:nvSpPr>
          <p:cNvPr id="5" name="Text 3"/>
          <p:cNvSpPr/>
          <p:nvPr/>
        </p:nvSpPr>
        <p:spPr>
          <a:xfrm>
            <a:off x="788670" y="4201954"/>
            <a:ext cx="3380423" cy="422434"/>
          </a:xfrm>
          <a:prstGeom prst="rect">
            <a:avLst/>
          </a:prstGeom>
          <a:noFill/>
          <a:ln/>
        </p:spPr>
        <p:txBody>
          <a:bodyPr wrap="non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Why It Matters</a:t>
            </a:r>
            <a:endParaRPr lang="en-US" sz="2650" dirty="0"/>
          </a:p>
        </p:txBody>
      </p:sp>
      <p:sp>
        <p:nvSpPr>
          <p:cNvPr id="6" name="Text 4"/>
          <p:cNvSpPr/>
          <p:nvPr/>
        </p:nvSpPr>
        <p:spPr>
          <a:xfrm>
            <a:off x="788670" y="4848225"/>
            <a:ext cx="6251615" cy="2672834"/>
          </a:xfrm>
          <a:prstGeom prst="rect">
            <a:avLst/>
          </a:prstGeom>
          <a:noFill/>
          <a:ln/>
        </p:spPr>
        <p:txBody>
          <a:bodyPr wrap="square" lIns="0" tIns="0" rIns="0" bIns="0" rtlCol="0" anchor="t"/>
          <a:lstStyle/>
          <a:p>
            <a:pPr algn="l" marL="342900" indent="-342900">
              <a:lnSpc>
                <a:spcPts val="2800"/>
              </a:lnSpc>
              <a:buSzPct val="100000"/>
              <a:buChar char="•"/>
            </a:pPr>
            <a:r>
              <a:rPr lang="en-US" sz="1750" b="1" dirty="0">
                <a:solidFill>
                  <a:srgbClr val="D4D4D1"/>
                </a:solidFill>
                <a:latin typeface="Roboto" pitchFamily="34" charset="0"/>
                <a:ea typeface="Roboto" pitchFamily="34" charset="-122"/>
                <a:cs typeface="Roboto" pitchFamily="34" charset="-120"/>
              </a:rPr>
              <a:t>Simplicity:</a:t>
            </a:r>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 Users interact with objects through a simple interface, without needing to understand intricate inner workings.</a:t>
            </a:r>
            <a:endParaRPr lang="en-US" sz="1750" dirty="0"/>
          </a:p>
          <a:p>
            <a:pPr algn="l" marL="342900" indent="-342900">
              <a:lnSpc>
                <a:spcPts val="2800"/>
              </a:lnSpc>
              <a:buSzPct val="100000"/>
              <a:buChar char="•"/>
            </a:pPr>
            <a:r>
              <a:rPr lang="en-US" sz="1750" b="1" dirty="0">
                <a:solidFill>
                  <a:srgbClr val="D4D4D1"/>
                </a:solidFill>
                <a:latin typeface="Roboto" pitchFamily="34" charset="0"/>
                <a:ea typeface="Roboto" pitchFamily="34" charset="-122"/>
                <a:cs typeface="Roboto" pitchFamily="34" charset="-120"/>
              </a:rPr>
              <a:t>Manageability:</a:t>
            </a:r>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 Reduces cognitive load, especially in large systems, by compartmentalizing complexity.</a:t>
            </a:r>
            <a:endParaRPr lang="en-US" sz="1750" dirty="0"/>
          </a:p>
          <a:p>
            <a:pPr algn="l" marL="342900" indent="-342900">
              <a:lnSpc>
                <a:spcPts val="2800"/>
              </a:lnSpc>
              <a:buSzPct val="100000"/>
              <a:buChar char="•"/>
            </a:pPr>
            <a:r>
              <a:rPr lang="en-US" sz="1750" b="1" dirty="0">
                <a:solidFill>
                  <a:srgbClr val="D4D4D1"/>
                </a:solidFill>
                <a:latin typeface="Roboto" pitchFamily="34" charset="0"/>
                <a:ea typeface="Roboto" pitchFamily="34" charset="-122"/>
                <a:cs typeface="Roboto" pitchFamily="34" charset="-120"/>
              </a:rPr>
              <a:t>Flexibility:</a:t>
            </a:r>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 Allows underlying implementations to change without impacting the external behavior of the object.</a:t>
            </a:r>
            <a:endParaRPr lang="en-US" sz="1750" dirty="0"/>
          </a:p>
        </p:txBody>
      </p:sp>
      <p:sp>
        <p:nvSpPr>
          <p:cNvPr id="7" name="Text 5"/>
          <p:cNvSpPr/>
          <p:nvPr/>
        </p:nvSpPr>
        <p:spPr>
          <a:xfrm>
            <a:off x="7597735" y="1894046"/>
            <a:ext cx="3380423" cy="422434"/>
          </a:xfrm>
          <a:prstGeom prst="rect">
            <a:avLst/>
          </a:prstGeom>
          <a:noFill/>
          <a:ln/>
        </p:spPr>
        <p:txBody>
          <a:bodyPr wrap="non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In Python</a:t>
            </a:r>
            <a:endParaRPr lang="en-US" sz="2650" dirty="0"/>
          </a:p>
        </p:txBody>
      </p:sp>
      <p:sp>
        <p:nvSpPr>
          <p:cNvPr id="8" name="Text 6"/>
          <p:cNvSpPr/>
          <p:nvPr/>
        </p:nvSpPr>
        <p:spPr>
          <a:xfrm>
            <a:off x="7597735" y="2540318"/>
            <a:ext cx="6251615" cy="1093589"/>
          </a:xfrm>
          <a:prstGeom prst="rect">
            <a:avLst/>
          </a:prstGeom>
          <a:noFill/>
          <a:ln/>
        </p:spPr>
        <p:txBody>
          <a:bodyPr wrap="square" lIns="0" tIns="0" rIns="0" bIns="0" rtlCol="0" anchor="t"/>
          <a:lstStyle/>
          <a:p>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Python achieves abstraction through abstract classes and methods, often using the </a:t>
            </a:r>
            <a:pPr algn="l" indent="0" marL="0">
              <a:lnSpc>
                <a:spcPts val="2800"/>
              </a:lnSpc>
              <a:buNone/>
            </a:pPr>
            <a:r>
              <a:rPr lang="en-US" sz="1750" dirty="0">
                <a:solidFill>
                  <a:srgbClr val="D4D4D1"/>
                </a:solidFill>
                <a:highlight>
                  <a:srgbClr val="36393F"/>
                </a:highlight>
                <a:latin typeface="Consolas" pitchFamily="34" charset="0"/>
                <a:ea typeface="Consolas" pitchFamily="34" charset="-122"/>
                <a:cs typeface="Consolas" pitchFamily="34" charset="-120"/>
              </a:rPr>
              <a:t>abc</a:t>
            </a:r>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 module. These define a common interface that concrete subclasses must implement.</a:t>
            </a:r>
            <a:endParaRPr lang="en-US" sz="1750" dirty="0"/>
          </a:p>
        </p:txBody>
      </p:sp>
      <p:sp>
        <p:nvSpPr>
          <p:cNvPr id="9" name="Text 7"/>
          <p:cNvSpPr/>
          <p:nvPr/>
        </p:nvSpPr>
        <p:spPr>
          <a:xfrm>
            <a:off x="7597735" y="3835360"/>
            <a:ext cx="6251615" cy="718899"/>
          </a:xfrm>
          <a:prstGeom prst="rect">
            <a:avLst/>
          </a:prstGeom>
          <a:noFill/>
          <a:ln/>
        </p:spPr>
        <p:txBody>
          <a:bodyPr wrap="square" lIns="0" tIns="0" rIns="0" bIns="0" rtlCol="0" anchor="t"/>
          <a:lstStyle/>
          <a:p>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Any class or function can serve as an abstraction if it provides a clear interface and hides its internal logic.</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8670" y="630198"/>
            <a:ext cx="5634157" cy="704255"/>
          </a:xfrm>
          <a:prstGeom prst="rect">
            <a:avLst/>
          </a:prstGeom>
          <a:noFill/>
          <a:ln/>
        </p:spPr>
        <p:txBody>
          <a:bodyPr wrap="none" lIns="0" tIns="0" rIns="0" bIns="0" rtlCol="0" anchor="t"/>
          <a:lstStyle/>
          <a:p>
            <a:pPr algn="l" indent="0" marL="0">
              <a:lnSpc>
                <a:spcPts val="5500"/>
              </a:lnSpc>
              <a:buNone/>
            </a:pPr>
            <a:r>
              <a:rPr lang="en-US" sz="4400" dirty="0">
                <a:solidFill>
                  <a:srgbClr val="F3F3F2"/>
                </a:solidFill>
                <a:latin typeface="IBM Plex Sans Medium" pitchFamily="34" charset="0"/>
                <a:ea typeface="IBM Plex Sans Medium" pitchFamily="34" charset="-122"/>
                <a:cs typeface="IBM Plex Sans Medium" pitchFamily="34" charset="-120"/>
              </a:rPr>
              <a:t>Pillar 3: Inheritance</a:t>
            </a:r>
            <a:endParaRPr lang="en-US" sz="4400" dirty="0"/>
          </a:p>
        </p:txBody>
      </p:sp>
      <p:sp>
        <p:nvSpPr>
          <p:cNvPr id="3" name="Text 1"/>
          <p:cNvSpPr/>
          <p:nvPr/>
        </p:nvSpPr>
        <p:spPr>
          <a:xfrm>
            <a:off x="788670" y="1894046"/>
            <a:ext cx="3380423" cy="422434"/>
          </a:xfrm>
          <a:prstGeom prst="rect">
            <a:avLst/>
          </a:prstGeom>
          <a:noFill/>
          <a:ln/>
        </p:spPr>
        <p:txBody>
          <a:bodyPr wrap="non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Core Concept</a:t>
            </a:r>
            <a:endParaRPr lang="en-US" sz="2650" dirty="0"/>
          </a:p>
        </p:txBody>
      </p:sp>
      <p:sp>
        <p:nvSpPr>
          <p:cNvPr id="4" name="Text 2"/>
          <p:cNvSpPr/>
          <p:nvPr/>
        </p:nvSpPr>
        <p:spPr>
          <a:xfrm>
            <a:off x="788670" y="2540318"/>
            <a:ext cx="6251615" cy="1437799"/>
          </a:xfrm>
          <a:prstGeom prst="rect">
            <a:avLst/>
          </a:prstGeom>
          <a:noFill/>
          <a:ln/>
        </p:spPr>
        <p:txBody>
          <a:bodyPr wrap="square" lIns="0" tIns="0" rIns="0" bIns="0" rtlCol="0" anchor="t"/>
          <a:lstStyle/>
          <a:p>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Inheritance is a mechanism in which one class acquires the properties (attributes and methods) of another class. The class that inherits is called the "child" or "derived" class, and the class being inherited from is the "parent" or "base" class.</a:t>
            </a:r>
            <a:endParaRPr lang="en-US" sz="1750" dirty="0"/>
          </a:p>
        </p:txBody>
      </p:sp>
      <p:sp>
        <p:nvSpPr>
          <p:cNvPr id="5" name="Text 3"/>
          <p:cNvSpPr/>
          <p:nvPr/>
        </p:nvSpPr>
        <p:spPr>
          <a:xfrm>
            <a:off x="788670" y="4201954"/>
            <a:ext cx="3380423" cy="422434"/>
          </a:xfrm>
          <a:prstGeom prst="rect">
            <a:avLst/>
          </a:prstGeom>
          <a:noFill/>
          <a:ln/>
        </p:spPr>
        <p:txBody>
          <a:bodyPr wrap="non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Why It Matters</a:t>
            </a:r>
            <a:endParaRPr lang="en-US" sz="2650" dirty="0"/>
          </a:p>
        </p:txBody>
      </p:sp>
      <p:sp>
        <p:nvSpPr>
          <p:cNvPr id="6" name="Text 4"/>
          <p:cNvSpPr/>
          <p:nvPr/>
        </p:nvSpPr>
        <p:spPr>
          <a:xfrm>
            <a:off x="788670" y="4848225"/>
            <a:ext cx="6251615" cy="2672834"/>
          </a:xfrm>
          <a:prstGeom prst="rect">
            <a:avLst/>
          </a:prstGeom>
          <a:noFill/>
          <a:ln/>
        </p:spPr>
        <p:txBody>
          <a:bodyPr wrap="square" lIns="0" tIns="0" rIns="0" bIns="0" rtlCol="0" anchor="t"/>
          <a:lstStyle/>
          <a:p>
            <a:pPr algn="l" marL="342900" indent="-342900">
              <a:lnSpc>
                <a:spcPts val="2800"/>
              </a:lnSpc>
              <a:buSzPct val="100000"/>
              <a:buChar char="•"/>
            </a:pPr>
            <a:r>
              <a:rPr lang="en-US" sz="1750" b="1" dirty="0">
                <a:solidFill>
                  <a:srgbClr val="D4D4D1"/>
                </a:solidFill>
                <a:latin typeface="Roboto" pitchFamily="34" charset="0"/>
                <a:ea typeface="Roboto" pitchFamily="34" charset="-122"/>
                <a:cs typeface="Roboto" pitchFamily="34" charset="-120"/>
              </a:rPr>
              <a:t>Code Reusability:</a:t>
            </a:r>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 Child classes can reuse methods and attributes defined in the parent class, reducing redundant code.</a:t>
            </a:r>
            <a:endParaRPr lang="en-US" sz="1750" dirty="0"/>
          </a:p>
          <a:p>
            <a:pPr algn="l" marL="342900" indent="-342900">
              <a:lnSpc>
                <a:spcPts val="2800"/>
              </a:lnSpc>
              <a:buSzPct val="100000"/>
              <a:buChar char="•"/>
            </a:pPr>
            <a:r>
              <a:rPr lang="en-US" sz="1750" b="1" dirty="0">
                <a:solidFill>
                  <a:srgbClr val="D4D4D1"/>
                </a:solidFill>
                <a:latin typeface="Roboto" pitchFamily="34" charset="0"/>
                <a:ea typeface="Roboto" pitchFamily="34" charset="-122"/>
                <a:cs typeface="Roboto" pitchFamily="34" charset="-120"/>
              </a:rPr>
              <a:t>Logical Hierarchy:</a:t>
            </a:r>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 Establishes a natural "is-a" relationship between classes (e.g., a "Dog is a" Animal).</a:t>
            </a:r>
            <a:endParaRPr lang="en-US" sz="1750" dirty="0"/>
          </a:p>
          <a:p>
            <a:pPr algn="l" marL="342900" indent="-342900">
              <a:lnSpc>
                <a:spcPts val="2800"/>
              </a:lnSpc>
              <a:buSzPct val="100000"/>
              <a:buChar char="•"/>
            </a:pPr>
            <a:r>
              <a:rPr lang="en-US" sz="1750" b="1" dirty="0">
                <a:solidFill>
                  <a:srgbClr val="D4D4D1"/>
                </a:solidFill>
                <a:latin typeface="Roboto" pitchFamily="34" charset="0"/>
                <a:ea typeface="Roboto" pitchFamily="34" charset="-122"/>
                <a:cs typeface="Roboto" pitchFamily="34" charset="-120"/>
              </a:rPr>
              <a:t>Extensibility:</a:t>
            </a:r>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 Child classes can add new features or override existing behaviors of the parent class.</a:t>
            </a:r>
            <a:endParaRPr lang="en-US" sz="1750" dirty="0"/>
          </a:p>
        </p:txBody>
      </p:sp>
      <p:sp>
        <p:nvSpPr>
          <p:cNvPr id="7" name="Text 5"/>
          <p:cNvSpPr/>
          <p:nvPr/>
        </p:nvSpPr>
        <p:spPr>
          <a:xfrm>
            <a:off x="7597735" y="1894046"/>
            <a:ext cx="3380423" cy="422434"/>
          </a:xfrm>
          <a:prstGeom prst="rect">
            <a:avLst/>
          </a:prstGeom>
          <a:noFill/>
          <a:ln/>
        </p:spPr>
        <p:txBody>
          <a:bodyPr wrap="none" lIns="0" tIns="0" rIns="0" bIns="0" rtlCol="0" anchor="t"/>
          <a:lstStyle/>
          <a:p>
            <a:pPr algn="l" indent="0" marL="0">
              <a:lnSpc>
                <a:spcPts val="3300"/>
              </a:lnSpc>
              <a:buNone/>
            </a:pPr>
            <a:r>
              <a:rPr lang="en-US" sz="2650" dirty="0">
                <a:solidFill>
                  <a:srgbClr val="F3F3F2"/>
                </a:solidFill>
                <a:latin typeface="IBM Plex Sans Medium" pitchFamily="34" charset="0"/>
                <a:ea typeface="IBM Plex Sans Medium" pitchFamily="34" charset="-122"/>
                <a:cs typeface="IBM Plex Sans Medium" pitchFamily="34" charset="-120"/>
              </a:rPr>
              <a:t>In Python</a:t>
            </a:r>
            <a:endParaRPr lang="en-US" sz="2650" dirty="0"/>
          </a:p>
        </p:txBody>
      </p:sp>
      <p:sp>
        <p:nvSpPr>
          <p:cNvPr id="8" name="Text 6"/>
          <p:cNvSpPr/>
          <p:nvPr/>
        </p:nvSpPr>
        <p:spPr>
          <a:xfrm>
            <a:off x="7597735" y="2540318"/>
            <a:ext cx="6251615" cy="1078349"/>
          </a:xfrm>
          <a:prstGeom prst="rect">
            <a:avLst/>
          </a:prstGeom>
          <a:noFill/>
          <a:ln/>
        </p:spPr>
        <p:txBody>
          <a:bodyPr wrap="square" lIns="0" tIns="0" rIns="0" bIns="0" rtlCol="0" anchor="t"/>
          <a:lstStyle/>
          <a:p>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Python supports single and multiple inheritance. When a class inherits from another, it gains access to all public and protected members of the parent class.</a:t>
            </a:r>
            <a:endParaRPr lang="en-US" sz="1750" dirty="0"/>
          </a:p>
        </p:txBody>
      </p:sp>
      <p:sp>
        <p:nvSpPr>
          <p:cNvPr id="9" name="Text 7"/>
          <p:cNvSpPr/>
          <p:nvPr/>
        </p:nvSpPr>
        <p:spPr>
          <a:xfrm>
            <a:off x="7597735" y="3820120"/>
            <a:ext cx="6251615" cy="1108829"/>
          </a:xfrm>
          <a:prstGeom prst="rect">
            <a:avLst/>
          </a:prstGeom>
          <a:noFill/>
          <a:ln/>
        </p:spPr>
        <p:txBody>
          <a:bodyPr wrap="square" lIns="0" tIns="0" rIns="0" bIns="0" rtlCol="0" anchor="t"/>
          <a:lstStyle/>
          <a:p>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The </a:t>
            </a:r>
            <a:pPr algn="l" indent="0" marL="0">
              <a:lnSpc>
                <a:spcPts val="2800"/>
              </a:lnSpc>
              <a:buNone/>
            </a:pPr>
            <a:r>
              <a:rPr lang="en-US" sz="1750" dirty="0">
                <a:solidFill>
                  <a:srgbClr val="D4D4D1"/>
                </a:solidFill>
                <a:highlight>
                  <a:srgbClr val="36393F"/>
                </a:highlight>
                <a:latin typeface="Consolas" pitchFamily="34" charset="0"/>
                <a:ea typeface="Consolas" pitchFamily="34" charset="-122"/>
                <a:cs typeface="Consolas" pitchFamily="34" charset="-120"/>
              </a:rPr>
              <a:t>super()</a:t>
            </a:r>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 function is commonly used to call methods from the parent class within the child class, especially in constructors (</a:t>
            </a:r>
            <a:pPr algn="l" indent="0" marL="0">
              <a:lnSpc>
                <a:spcPts val="2800"/>
              </a:lnSpc>
              <a:buNone/>
            </a:pPr>
            <a:r>
              <a:rPr lang="en-US" sz="1750" dirty="0">
                <a:solidFill>
                  <a:srgbClr val="D4D4D1"/>
                </a:solidFill>
                <a:highlight>
                  <a:srgbClr val="36393F"/>
                </a:highlight>
                <a:latin typeface="Consolas" pitchFamily="34" charset="0"/>
                <a:ea typeface="Consolas" pitchFamily="34" charset="-122"/>
                <a:cs typeface="Consolas" pitchFamily="34" charset="-120"/>
              </a:rPr>
              <a:t>__init__</a:t>
            </a:r>
            <a:pPr algn="l" indent="0" marL="0">
              <a:lnSpc>
                <a:spcPts val="2800"/>
              </a:lnSpc>
              <a:buNone/>
            </a:pPr>
            <a:r>
              <a:rPr lang="en-US" sz="1750" dirty="0">
                <a:solidFill>
                  <a:srgbClr val="D4D4D1"/>
                </a:solidFill>
                <a:latin typeface="Roboto" pitchFamily="34" charset="0"/>
                <a:ea typeface="Roboto" pitchFamily="34" charset="-122"/>
                <a:cs typeface="Roboto" pitchFamily="34" charset="-120"/>
              </a:rPr>
              <a: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4737" y="1012508"/>
            <a:ext cx="5589627" cy="673894"/>
          </a:xfrm>
          <a:prstGeom prst="rect">
            <a:avLst/>
          </a:prstGeom>
          <a:noFill/>
          <a:ln/>
        </p:spPr>
        <p:txBody>
          <a:bodyPr wrap="none" lIns="0" tIns="0" rIns="0" bIns="0" rtlCol="0" anchor="t"/>
          <a:lstStyle/>
          <a:p>
            <a:pPr algn="l" indent="0" marL="0">
              <a:lnSpc>
                <a:spcPts val="5300"/>
              </a:lnSpc>
              <a:buNone/>
            </a:pPr>
            <a:r>
              <a:rPr lang="en-US" sz="4200" dirty="0">
                <a:solidFill>
                  <a:srgbClr val="F3F3F2"/>
                </a:solidFill>
                <a:latin typeface="IBM Plex Sans Medium" pitchFamily="34" charset="0"/>
                <a:ea typeface="IBM Plex Sans Medium" pitchFamily="34" charset="-122"/>
                <a:cs typeface="IBM Plex Sans Medium" pitchFamily="34" charset="-120"/>
              </a:rPr>
              <a:t>Pillar 4: Polymorphism</a:t>
            </a:r>
            <a:endParaRPr lang="en-US" sz="4200" dirty="0"/>
          </a:p>
        </p:txBody>
      </p:sp>
      <p:sp>
        <p:nvSpPr>
          <p:cNvPr id="3" name="Text 1"/>
          <p:cNvSpPr/>
          <p:nvPr/>
        </p:nvSpPr>
        <p:spPr>
          <a:xfrm>
            <a:off x="754737" y="2198727"/>
            <a:ext cx="3234690" cy="404336"/>
          </a:xfrm>
          <a:prstGeom prst="rect">
            <a:avLst/>
          </a:prstGeom>
          <a:noFill/>
          <a:ln/>
        </p:spPr>
        <p:txBody>
          <a:bodyPr wrap="none" lIns="0" tIns="0" rIns="0" bIns="0" rtlCol="0" anchor="t"/>
          <a:lstStyle/>
          <a:p>
            <a:pPr algn="l" indent="0" marL="0">
              <a:lnSpc>
                <a:spcPts val="3150"/>
              </a:lnSpc>
              <a:buNone/>
            </a:pPr>
            <a:r>
              <a:rPr lang="en-US" sz="2500" dirty="0">
                <a:solidFill>
                  <a:srgbClr val="F3F3F2"/>
                </a:solidFill>
                <a:latin typeface="IBM Plex Sans Medium" pitchFamily="34" charset="0"/>
                <a:ea typeface="IBM Plex Sans Medium" pitchFamily="34" charset="-122"/>
                <a:cs typeface="IBM Plex Sans Medium" pitchFamily="34" charset="-120"/>
              </a:rPr>
              <a:t>Core Concept</a:t>
            </a:r>
            <a:endParaRPr lang="en-US" sz="2500" dirty="0"/>
          </a:p>
        </p:txBody>
      </p:sp>
      <p:sp>
        <p:nvSpPr>
          <p:cNvPr id="4" name="Text 2"/>
          <p:cNvSpPr/>
          <p:nvPr/>
        </p:nvSpPr>
        <p:spPr>
          <a:xfrm>
            <a:off x="754737" y="2807970"/>
            <a:ext cx="6297454" cy="1009412"/>
          </a:xfrm>
          <a:prstGeom prst="rect">
            <a:avLst/>
          </a:prstGeom>
          <a:noFill/>
          <a:ln/>
        </p:spPr>
        <p:txBody>
          <a:bodyPr wrap="square" lIns="0" tIns="0" rIns="0" bIns="0" rtlCol="0" anchor="t"/>
          <a:lstStyle/>
          <a:p>
            <a:pPr algn="l" indent="0" marL="0">
              <a:lnSpc>
                <a:spcPts val="2600"/>
              </a:lnSpc>
              <a:buNone/>
            </a:pPr>
            <a:r>
              <a:rPr lang="en-US" sz="1650" dirty="0">
                <a:solidFill>
                  <a:srgbClr val="D4D4D1"/>
                </a:solidFill>
                <a:latin typeface="Roboto" pitchFamily="34" charset="0"/>
                <a:ea typeface="Roboto" pitchFamily="34" charset="-122"/>
                <a:cs typeface="Roboto" pitchFamily="34" charset="-120"/>
              </a:rPr>
              <a:t>Polymorphism means "many forms." In OOP, it refers to the ability of different classes to respond to the same method call in their own specific ways. This often relies on inheritance and interfaces.</a:t>
            </a:r>
            <a:endParaRPr lang="en-US" sz="1650" dirty="0"/>
          </a:p>
        </p:txBody>
      </p:sp>
      <p:sp>
        <p:nvSpPr>
          <p:cNvPr id="5" name="Text 3"/>
          <p:cNvSpPr/>
          <p:nvPr/>
        </p:nvSpPr>
        <p:spPr>
          <a:xfrm>
            <a:off x="754737" y="4022288"/>
            <a:ext cx="3234690" cy="404336"/>
          </a:xfrm>
          <a:prstGeom prst="rect">
            <a:avLst/>
          </a:prstGeom>
          <a:noFill/>
          <a:ln/>
        </p:spPr>
        <p:txBody>
          <a:bodyPr wrap="none" lIns="0" tIns="0" rIns="0" bIns="0" rtlCol="0" anchor="t"/>
          <a:lstStyle/>
          <a:p>
            <a:pPr algn="l" indent="0" marL="0">
              <a:lnSpc>
                <a:spcPts val="3150"/>
              </a:lnSpc>
              <a:buNone/>
            </a:pPr>
            <a:r>
              <a:rPr lang="en-US" sz="2500" dirty="0">
                <a:solidFill>
                  <a:srgbClr val="F3F3F2"/>
                </a:solidFill>
                <a:latin typeface="IBM Plex Sans Medium" pitchFamily="34" charset="0"/>
                <a:ea typeface="IBM Plex Sans Medium" pitchFamily="34" charset="-122"/>
                <a:cs typeface="IBM Plex Sans Medium" pitchFamily="34" charset="-120"/>
              </a:rPr>
              <a:t>Why It Matters</a:t>
            </a:r>
            <a:endParaRPr lang="en-US" sz="2500" dirty="0"/>
          </a:p>
        </p:txBody>
      </p:sp>
      <p:sp>
        <p:nvSpPr>
          <p:cNvPr id="6" name="Text 4"/>
          <p:cNvSpPr/>
          <p:nvPr/>
        </p:nvSpPr>
        <p:spPr>
          <a:xfrm>
            <a:off x="754737" y="4631531"/>
            <a:ext cx="6297454" cy="2513886"/>
          </a:xfrm>
          <a:prstGeom prst="rect">
            <a:avLst/>
          </a:prstGeom>
          <a:noFill/>
          <a:ln/>
        </p:spPr>
        <p:txBody>
          <a:bodyPr wrap="square" lIns="0" tIns="0" rIns="0" bIns="0" rtlCol="0" anchor="t"/>
          <a:lstStyle/>
          <a:p>
            <a:pPr algn="l" marL="342900" indent="-342900">
              <a:lnSpc>
                <a:spcPts val="2600"/>
              </a:lnSpc>
              <a:buSzPct val="100000"/>
              <a:buChar char="•"/>
            </a:pPr>
            <a:r>
              <a:rPr lang="en-US" sz="1650" b="1" dirty="0">
                <a:solidFill>
                  <a:srgbClr val="D4D4D1"/>
                </a:solidFill>
                <a:latin typeface="Roboto" pitchFamily="34" charset="0"/>
                <a:ea typeface="Roboto" pitchFamily="34" charset="-122"/>
                <a:cs typeface="Roboto" pitchFamily="34" charset="-120"/>
              </a:rPr>
              <a:t>Flexibility:</a:t>
            </a:r>
            <a:pPr algn="l" indent="0" marL="0">
              <a:lnSpc>
                <a:spcPts val="2600"/>
              </a:lnSpc>
              <a:buNone/>
            </a:pPr>
            <a:r>
              <a:rPr lang="en-US" sz="1650" dirty="0">
                <a:solidFill>
                  <a:srgbClr val="D4D4D1"/>
                </a:solidFill>
                <a:latin typeface="Roboto" pitchFamily="34" charset="0"/>
                <a:ea typeface="Roboto" pitchFamily="34" charset="-122"/>
                <a:cs typeface="Roboto" pitchFamily="34" charset="-120"/>
              </a:rPr>
              <a:t> Allows you to write generic code that can work with objects of different types, as long as they share a common interface.</a:t>
            </a:r>
            <a:endParaRPr lang="en-US" sz="1650" dirty="0"/>
          </a:p>
          <a:p>
            <a:pPr algn="l" marL="342900" indent="-342900">
              <a:lnSpc>
                <a:spcPts val="2600"/>
              </a:lnSpc>
              <a:buSzPct val="100000"/>
              <a:buChar char="•"/>
            </a:pPr>
            <a:r>
              <a:rPr lang="en-US" sz="1650" b="1" dirty="0">
                <a:solidFill>
                  <a:srgbClr val="D4D4D1"/>
                </a:solidFill>
                <a:latin typeface="Roboto" pitchFamily="34" charset="0"/>
                <a:ea typeface="Roboto" pitchFamily="34" charset="-122"/>
                <a:cs typeface="Roboto" pitchFamily="34" charset="-120"/>
              </a:rPr>
              <a:t>Code Simplicity:</a:t>
            </a:r>
            <a:pPr algn="l" indent="0" marL="0">
              <a:lnSpc>
                <a:spcPts val="2600"/>
              </a:lnSpc>
              <a:buNone/>
            </a:pPr>
            <a:r>
              <a:rPr lang="en-US" sz="1650" dirty="0">
                <a:solidFill>
                  <a:srgbClr val="D4D4D1"/>
                </a:solidFill>
                <a:latin typeface="Roboto" pitchFamily="34" charset="0"/>
                <a:ea typeface="Roboto" pitchFamily="34" charset="-122"/>
                <a:cs typeface="Roboto" pitchFamily="34" charset="-120"/>
              </a:rPr>
              <a:t> Reduces the need for conditional statements (</a:t>
            </a:r>
            <a:pPr algn="l" indent="0" marL="0">
              <a:lnSpc>
                <a:spcPts val="2600"/>
              </a:lnSpc>
              <a:buNone/>
            </a:pPr>
            <a:r>
              <a:rPr lang="en-US" sz="1650" dirty="0">
                <a:solidFill>
                  <a:srgbClr val="D4D4D1"/>
                </a:solidFill>
                <a:highlight>
                  <a:srgbClr val="36393F"/>
                </a:highlight>
                <a:latin typeface="Consolas" pitchFamily="34" charset="0"/>
                <a:ea typeface="Consolas" pitchFamily="34" charset="-122"/>
                <a:cs typeface="Consolas" pitchFamily="34" charset="-120"/>
              </a:rPr>
              <a:t>if-else</a:t>
            </a:r>
            <a:pPr algn="l" indent="0" marL="0">
              <a:lnSpc>
                <a:spcPts val="2600"/>
              </a:lnSpc>
              <a:buNone/>
            </a:pPr>
            <a:r>
              <a:rPr lang="en-US" sz="1650" dirty="0">
                <a:solidFill>
                  <a:srgbClr val="D4D4D1"/>
                </a:solidFill>
                <a:latin typeface="Roboto" pitchFamily="34" charset="0"/>
                <a:ea typeface="Roboto" pitchFamily="34" charset="-122"/>
                <a:cs typeface="Roboto" pitchFamily="34" charset="-120"/>
              </a:rPr>
              <a:t>) to determine an object's type before calling a method.</a:t>
            </a:r>
            <a:endParaRPr lang="en-US" sz="1650" dirty="0"/>
          </a:p>
          <a:p>
            <a:pPr algn="l" marL="342900" indent="-342900">
              <a:lnSpc>
                <a:spcPts val="2600"/>
              </a:lnSpc>
              <a:buSzPct val="100000"/>
              <a:buChar char="•"/>
            </a:pPr>
            <a:r>
              <a:rPr lang="en-US" sz="1650" b="1" dirty="0">
                <a:solidFill>
                  <a:srgbClr val="D4D4D1"/>
                </a:solidFill>
                <a:latin typeface="Roboto" pitchFamily="34" charset="0"/>
                <a:ea typeface="Roboto" pitchFamily="34" charset="-122"/>
                <a:cs typeface="Roboto" pitchFamily="34" charset="-120"/>
              </a:rPr>
              <a:t>Interchangeability:</a:t>
            </a:r>
            <a:pPr algn="l" indent="0" marL="0">
              <a:lnSpc>
                <a:spcPts val="2600"/>
              </a:lnSpc>
              <a:buNone/>
            </a:pPr>
            <a:r>
              <a:rPr lang="en-US" sz="1650" dirty="0">
                <a:solidFill>
                  <a:srgbClr val="D4D4D1"/>
                </a:solidFill>
                <a:latin typeface="Roboto" pitchFamily="34" charset="0"/>
                <a:ea typeface="Roboto" pitchFamily="34" charset="-122"/>
                <a:cs typeface="Roboto" pitchFamily="34" charset="-120"/>
              </a:rPr>
              <a:t> Objects can be swapped out easily, promoting loosely coupled and maintainable designs.</a:t>
            </a:r>
            <a:endParaRPr lang="en-US" sz="1650" dirty="0"/>
          </a:p>
        </p:txBody>
      </p:sp>
      <p:sp>
        <p:nvSpPr>
          <p:cNvPr id="7" name="Text 5"/>
          <p:cNvSpPr/>
          <p:nvPr/>
        </p:nvSpPr>
        <p:spPr>
          <a:xfrm>
            <a:off x="7585829" y="2198727"/>
            <a:ext cx="3234690" cy="404336"/>
          </a:xfrm>
          <a:prstGeom prst="rect">
            <a:avLst/>
          </a:prstGeom>
          <a:noFill/>
          <a:ln/>
        </p:spPr>
        <p:txBody>
          <a:bodyPr wrap="none" lIns="0" tIns="0" rIns="0" bIns="0" rtlCol="0" anchor="t"/>
          <a:lstStyle/>
          <a:p>
            <a:pPr algn="l" indent="0" marL="0">
              <a:lnSpc>
                <a:spcPts val="3150"/>
              </a:lnSpc>
              <a:buNone/>
            </a:pPr>
            <a:r>
              <a:rPr lang="en-US" sz="2500" dirty="0">
                <a:solidFill>
                  <a:srgbClr val="F3F3F2"/>
                </a:solidFill>
                <a:latin typeface="IBM Plex Sans Medium" pitchFamily="34" charset="0"/>
                <a:ea typeface="IBM Plex Sans Medium" pitchFamily="34" charset="-122"/>
                <a:cs typeface="IBM Plex Sans Medium" pitchFamily="34" charset="-120"/>
              </a:rPr>
              <a:t>In Python</a:t>
            </a:r>
            <a:endParaRPr lang="en-US" sz="2500" dirty="0"/>
          </a:p>
        </p:txBody>
      </p:sp>
      <p:sp>
        <p:nvSpPr>
          <p:cNvPr id="8" name="Text 6"/>
          <p:cNvSpPr/>
          <p:nvPr/>
        </p:nvSpPr>
        <p:spPr>
          <a:xfrm>
            <a:off x="7585829" y="2807970"/>
            <a:ext cx="6297454" cy="1345883"/>
          </a:xfrm>
          <a:prstGeom prst="rect">
            <a:avLst/>
          </a:prstGeom>
          <a:noFill/>
          <a:ln/>
        </p:spPr>
        <p:txBody>
          <a:bodyPr wrap="square" lIns="0" tIns="0" rIns="0" bIns="0" rtlCol="0" anchor="t"/>
          <a:lstStyle/>
          <a:p>
            <a:pPr algn="l" indent="0" marL="0">
              <a:lnSpc>
                <a:spcPts val="2600"/>
              </a:lnSpc>
              <a:buNone/>
            </a:pPr>
            <a:r>
              <a:rPr lang="en-US" sz="1650" dirty="0">
                <a:solidFill>
                  <a:srgbClr val="D4D4D1"/>
                </a:solidFill>
                <a:latin typeface="Roboto" pitchFamily="34" charset="0"/>
                <a:ea typeface="Roboto" pitchFamily="34" charset="-122"/>
                <a:cs typeface="Roboto" pitchFamily="34" charset="-120"/>
              </a:rPr>
              <a:t>Python naturally supports polymorphism through method overriding (subclasses redefining methods of their parent class) and method overloading (though less explicit than in other languages, achieved through default arguments).</a:t>
            </a:r>
            <a:endParaRPr lang="en-US" sz="1650" dirty="0"/>
          </a:p>
        </p:txBody>
      </p:sp>
      <p:sp>
        <p:nvSpPr>
          <p:cNvPr id="9" name="Text 7"/>
          <p:cNvSpPr/>
          <p:nvPr/>
        </p:nvSpPr>
        <p:spPr>
          <a:xfrm>
            <a:off x="7585829" y="4338280"/>
            <a:ext cx="6297454" cy="1009412"/>
          </a:xfrm>
          <a:prstGeom prst="rect">
            <a:avLst/>
          </a:prstGeom>
          <a:noFill/>
          <a:ln/>
        </p:spPr>
        <p:txBody>
          <a:bodyPr wrap="square" lIns="0" tIns="0" rIns="0" bIns="0" rtlCol="0" anchor="t"/>
          <a:lstStyle/>
          <a:p>
            <a:pPr algn="l" indent="0" marL="0">
              <a:lnSpc>
                <a:spcPts val="2600"/>
              </a:lnSpc>
              <a:buNone/>
            </a:pPr>
            <a:r>
              <a:rPr lang="en-US" sz="1650" dirty="0">
                <a:solidFill>
                  <a:srgbClr val="D4D4D1"/>
                </a:solidFill>
                <a:latin typeface="Roboto" pitchFamily="34" charset="0"/>
                <a:ea typeface="Roboto" pitchFamily="34" charset="-122"/>
                <a:cs typeface="Roboto" pitchFamily="34" charset="-120"/>
              </a:rPr>
              <a:t>Duck typing ("If it walks like a duck and quacks like a duck, then it must be a duck") is a key aspect of Python's polymorphism, where the focus is on an object's behavior rather than its explicit type.</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64581"/>
          </a:xfrm>
          <a:prstGeom prst="rect">
            <a:avLst/>
          </a:prstGeom>
        </p:spPr>
      </p:pic>
      <p:sp>
        <p:nvSpPr>
          <p:cNvPr id="3" name="Text 0"/>
          <p:cNvSpPr/>
          <p:nvPr/>
        </p:nvSpPr>
        <p:spPr>
          <a:xfrm>
            <a:off x="788908" y="3581400"/>
            <a:ext cx="11537752" cy="591145"/>
          </a:xfrm>
          <a:prstGeom prst="rect">
            <a:avLst/>
          </a:prstGeom>
          <a:noFill/>
          <a:ln/>
        </p:spPr>
        <p:txBody>
          <a:bodyPr wrap="none" lIns="0" tIns="0" rIns="0" bIns="0" rtlCol="0" anchor="t"/>
          <a:lstStyle/>
          <a:p>
            <a:pPr algn="l" indent="0" marL="0">
              <a:lnSpc>
                <a:spcPts val="4650"/>
              </a:lnSpc>
              <a:buNone/>
            </a:pPr>
            <a:r>
              <a:rPr lang="en-US" sz="3700" dirty="0">
                <a:solidFill>
                  <a:srgbClr val="F3F3F2"/>
                </a:solidFill>
                <a:latin typeface="IBM Plex Sans Medium" pitchFamily="34" charset="0"/>
                <a:ea typeface="IBM Plex Sans Medium" pitchFamily="34" charset="-122"/>
                <a:cs typeface="IBM Plex Sans Medium" pitchFamily="34" charset="-120"/>
              </a:rPr>
              <a:t>Real-World Example: Bank Account System in Python</a:t>
            </a:r>
            <a:endParaRPr lang="en-US" sz="3700" dirty="0"/>
          </a:p>
        </p:txBody>
      </p:sp>
      <p:sp>
        <p:nvSpPr>
          <p:cNvPr id="4" name="Shape 1"/>
          <p:cNvSpPr/>
          <p:nvPr/>
        </p:nvSpPr>
        <p:spPr>
          <a:xfrm>
            <a:off x="788908" y="4409122"/>
            <a:ext cx="3144798" cy="2603659"/>
          </a:xfrm>
          <a:prstGeom prst="roundRect">
            <a:avLst>
              <a:gd name="adj" fmla="val 1090"/>
            </a:avLst>
          </a:prstGeom>
          <a:solidFill>
            <a:srgbClr val="484B51"/>
          </a:solidFill>
          <a:ln/>
        </p:spPr>
      </p:sp>
      <p:sp>
        <p:nvSpPr>
          <p:cNvPr id="5" name="Shape 2"/>
          <p:cNvSpPr/>
          <p:nvPr/>
        </p:nvSpPr>
        <p:spPr>
          <a:xfrm>
            <a:off x="977979" y="4598194"/>
            <a:ext cx="567452" cy="567452"/>
          </a:xfrm>
          <a:prstGeom prst="roundRect">
            <a:avLst>
              <a:gd name="adj" fmla="val 16112527"/>
            </a:avLst>
          </a:prstGeom>
          <a:solidFill>
            <a:srgbClr val="FFBC8F"/>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4070" y="4754166"/>
            <a:ext cx="255270" cy="255270"/>
          </a:xfrm>
          <a:prstGeom prst="rect">
            <a:avLst/>
          </a:prstGeom>
        </p:spPr>
      </p:pic>
      <p:sp>
        <p:nvSpPr>
          <p:cNvPr id="7" name="Text 3"/>
          <p:cNvSpPr/>
          <p:nvPr/>
        </p:nvSpPr>
        <p:spPr>
          <a:xfrm>
            <a:off x="977979" y="5323403"/>
            <a:ext cx="2364581" cy="295513"/>
          </a:xfrm>
          <a:prstGeom prst="rect">
            <a:avLst/>
          </a:prstGeom>
          <a:noFill/>
          <a:ln/>
        </p:spPr>
        <p:txBody>
          <a:bodyPr wrap="none" lIns="0" tIns="0" rIns="0" bIns="0" rtlCol="0" anchor="t"/>
          <a:lstStyle/>
          <a:p>
            <a:pPr algn="l" indent="0" marL="0">
              <a:lnSpc>
                <a:spcPts val="2300"/>
              </a:lnSpc>
              <a:buNone/>
            </a:pPr>
            <a:r>
              <a:rPr lang="en-US" sz="1850" dirty="0">
                <a:solidFill>
                  <a:srgbClr val="D4D4D1"/>
                </a:solidFill>
                <a:latin typeface="IBM Plex Sans Medium" pitchFamily="34" charset="0"/>
                <a:ea typeface="IBM Plex Sans Medium" pitchFamily="34" charset="-122"/>
                <a:cs typeface="IBM Plex Sans Medium" pitchFamily="34" charset="-120"/>
              </a:rPr>
              <a:t>Encapsulation</a:t>
            </a:r>
            <a:endParaRPr lang="en-US" sz="1850" dirty="0"/>
          </a:p>
        </p:txBody>
      </p:sp>
      <p:sp>
        <p:nvSpPr>
          <p:cNvPr id="8" name="Text 4"/>
          <p:cNvSpPr/>
          <p:nvPr/>
        </p:nvSpPr>
        <p:spPr>
          <a:xfrm>
            <a:off x="977979" y="5713571"/>
            <a:ext cx="2766655" cy="1110139"/>
          </a:xfrm>
          <a:prstGeom prst="rect">
            <a:avLst/>
          </a:prstGeom>
          <a:noFill/>
          <a:ln/>
        </p:spPr>
        <p:txBody>
          <a:bodyPr wrap="square" lIns="0" tIns="0" rIns="0" bIns="0" rtlCol="0" anchor="t"/>
          <a:lstStyle/>
          <a:p>
            <a:pPr algn="l" indent="0" marL="0">
              <a:lnSpc>
                <a:spcPts val="2150"/>
              </a:lnSpc>
              <a:buNone/>
            </a:pPr>
            <a:r>
              <a:rPr lang="en-US" sz="1450" dirty="0">
                <a:solidFill>
                  <a:srgbClr val="D4D4D1"/>
                </a:solidFill>
                <a:latin typeface="Roboto" pitchFamily="34" charset="0"/>
                <a:ea typeface="Roboto" pitchFamily="34" charset="-122"/>
                <a:cs typeface="Roboto" pitchFamily="34" charset="-120"/>
              </a:rPr>
              <a:t>The account balance is kept private, accessible only through controlled deposit and withdraw methods.</a:t>
            </a:r>
            <a:endParaRPr lang="en-US" sz="1450" dirty="0"/>
          </a:p>
        </p:txBody>
      </p:sp>
      <p:sp>
        <p:nvSpPr>
          <p:cNvPr id="9" name="Shape 5"/>
          <p:cNvSpPr/>
          <p:nvPr/>
        </p:nvSpPr>
        <p:spPr>
          <a:xfrm>
            <a:off x="4091464" y="4409122"/>
            <a:ext cx="3144798" cy="2603659"/>
          </a:xfrm>
          <a:prstGeom prst="roundRect">
            <a:avLst>
              <a:gd name="adj" fmla="val 1090"/>
            </a:avLst>
          </a:prstGeom>
          <a:solidFill>
            <a:srgbClr val="484B51"/>
          </a:solidFill>
          <a:ln/>
        </p:spPr>
      </p:sp>
      <p:sp>
        <p:nvSpPr>
          <p:cNvPr id="10" name="Shape 6"/>
          <p:cNvSpPr/>
          <p:nvPr/>
        </p:nvSpPr>
        <p:spPr>
          <a:xfrm>
            <a:off x="4280535" y="4598194"/>
            <a:ext cx="567452" cy="567452"/>
          </a:xfrm>
          <a:prstGeom prst="roundRect">
            <a:avLst>
              <a:gd name="adj" fmla="val 16112527"/>
            </a:avLst>
          </a:prstGeom>
          <a:solidFill>
            <a:srgbClr val="FFBC8F"/>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36626" y="4754166"/>
            <a:ext cx="255270" cy="255270"/>
          </a:xfrm>
          <a:prstGeom prst="rect">
            <a:avLst/>
          </a:prstGeom>
        </p:spPr>
      </p:pic>
      <p:sp>
        <p:nvSpPr>
          <p:cNvPr id="12" name="Text 7"/>
          <p:cNvSpPr/>
          <p:nvPr/>
        </p:nvSpPr>
        <p:spPr>
          <a:xfrm>
            <a:off x="4280535" y="5323403"/>
            <a:ext cx="2364581" cy="295513"/>
          </a:xfrm>
          <a:prstGeom prst="rect">
            <a:avLst/>
          </a:prstGeom>
          <a:noFill/>
          <a:ln/>
        </p:spPr>
        <p:txBody>
          <a:bodyPr wrap="none" lIns="0" tIns="0" rIns="0" bIns="0" rtlCol="0" anchor="t"/>
          <a:lstStyle/>
          <a:p>
            <a:pPr algn="l" indent="0" marL="0">
              <a:lnSpc>
                <a:spcPts val="2300"/>
              </a:lnSpc>
              <a:buNone/>
            </a:pPr>
            <a:r>
              <a:rPr lang="en-US" sz="1850" dirty="0">
                <a:solidFill>
                  <a:srgbClr val="D4D4D1"/>
                </a:solidFill>
                <a:latin typeface="IBM Plex Sans Medium" pitchFamily="34" charset="0"/>
                <a:ea typeface="IBM Plex Sans Medium" pitchFamily="34" charset="-122"/>
                <a:cs typeface="IBM Plex Sans Medium" pitchFamily="34" charset="-120"/>
              </a:rPr>
              <a:t>Abstraction</a:t>
            </a:r>
            <a:endParaRPr lang="en-US" sz="1850" dirty="0"/>
          </a:p>
        </p:txBody>
      </p:sp>
      <p:sp>
        <p:nvSpPr>
          <p:cNvPr id="13" name="Text 8"/>
          <p:cNvSpPr/>
          <p:nvPr/>
        </p:nvSpPr>
        <p:spPr>
          <a:xfrm>
            <a:off x="4280535" y="5713571"/>
            <a:ext cx="2766655" cy="1110139"/>
          </a:xfrm>
          <a:prstGeom prst="rect">
            <a:avLst/>
          </a:prstGeom>
          <a:noFill/>
          <a:ln/>
        </p:spPr>
        <p:txBody>
          <a:bodyPr wrap="square" lIns="0" tIns="0" rIns="0" bIns="0" rtlCol="0" anchor="t"/>
          <a:lstStyle/>
          <a:p>
            <a:pPr algn="l" indent="0" marL="0">
              <a:lnSpc>
                <a:spcPts val="2150"/>
              </a:lnSpc>
              <a:buNone/>
            </a:pPr>
            <a:r>
              <a:rPr lang="en-US" sz="1450" dirty="0">
                <a:solidFill>
                  <a:srgbClr val="D4D4D1"/>
                </a:solidFill>
                <a:latin typeface="Roboto" pitchFamily="34" charset="0"/>
                <a:ea typeface="Roboto" pitchFamily="34" charset="-122"/>
                <a:cs typeface="Roboto" pitchFamily="34" charset="-120"/>
              </a:rPr>
              <a:t>Users interact via simple methods like 'deposit' or 'withdraw', unaware of complex internal calculations.</a:t>
            </a:r>
            <a:endParaRPr lang="en-US" sz="1450" dirty="0"/>
          </a:p>
        </p:txBody>
      </p:sp>
      <p:sp>
        <p:nvSpPr>
          <p:cNvPr id="14" name="Shape 9"/>
          <p:cNvSpPr/>
          <p:nvPr/>
        </p:nvSpPr>
        <p:spPr>
          <a:xfrm>
            <a:off x="7394019" y="4409122"/>
            <a:ext cx="3144798" cy="2603659"/>
          </a:xfrm>
          <a:prstGeom prst="roundRect">
            <a:avLst>
              <a:gd name="adj" fmla="val 1090"/>
            </a:avLst>
          </a:prstGeom>
          <a:solidFill>
            <a:srgbClr val="484B51"/>
          </a:solidFill>
          <a:ln/>
        </p:spPr>
      </p:sp>
      <p:sp>
        <p:nvSpPr>
          <p:cNvPr id="15" name="Shape 10"/>
          <p:cNvSpPr/>
          <p:nvPr/>
        </p:nvSpPr>
        <p:spPr>
          <a:xfrm>
            <a:off x="7583091" y="4598194"/>
            <a:ext cx="567452" cy="567452"/>
          </a:xfrm>
          <a:prstGeom prst="roundRect">
            <a:avLst>
              <a:gd name="adj" fmla="val 16112527"/>
            </a:avLst>
          </a:prstGeom>
          <a:solidFill>
            <a:srgbClr val="FFBC8F"/>
          </a:solidFill>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39182" y="4754166"/>
            <a:ext cx="255270" cy="255270"/>
          </a:xfrm>
          <a:prstGeom prst="rect">
            <a:avLst/>
          </a:prstGeom>
        </p:spPr>
      </p:pic>
      <p:sp>
        <p:nvSpPr>
          <p:cNvPr id="17" name="Text 11"/>
          <p:cNvSpPr/>
          <p:nvPr/>
        </p:nvSpPr>
        <p:spPr>
          <a:xfrm>
            <a:off x="7583091" y="5323403"/>
            <a:ext cx="2364581" cy="295513"/>
          </a:xfrm>
          <a:prstGeom prst="rect">
            <a:avLst/>
          </a:prstGeom>
          <a:noFill/>
          <a:ln/>
        </p:spPr>
        <p:txBody>
          <a:bodyPr wrap="none" lIns="0" tIns="0" rIns="0" bIns="0" rtlCol="0" anchor="t"/>
          <a:lstStyle/>
          <a:p>
            <a:pPr algn="l" indent="0" marL="0">
              <a:lnSpc>
                <a:spcPts val="2300"/>
              </a:lnSpc>
              <a:buNone/>
            </a:pPr>
            <a:r>
              <a:rPr lang="en-US" sz="1850" dirty="0">
                <a:solidFill>
                  <a:srgbClr val="D4D4D1"/>
                </a:solidFill>
                <a:latin typeface="IBM Plex Sans Medium" pitchFamily="34" charset="0"/>
                <a:ea typeface="IBM Plex Sans Medium" pitchFamily="34" charset="-122"/>
                <a:cs typeface="IBM Plex Sans Medium" pitchFamily="34" charset="-120"/>
              </a:rPr>
              <a:t>Inheritance</a:t>
            </a:r>
            <a:endParaRPr lang="en-US" sz="1850" dirty="0"/>
          </a:p>
        </p:txBody>
      </p:sp>
      <p:sp>
        <p:nvSpPr>
          <p:cNvPr id="18" name="Text 12"/>
          <p:cNvSpPr/>
          <p:nvPr/>
        </p:nvSpPr>
        <p:spPr>
          <a:xfrm>
            <a:off x="7583091" y="5713571"/>
            <a:ext cx="2766655" cy="1110139"/>
          </a:xfrm>
          <a:prstGeom prst="rect">
            <a:avLst/>
          </a:prstGeom>
          <a:noFill/>
          <a:ln/>
        </p:spPr>
        <p:txBody>
          <a:bodyPr wrap="square" lIns="0" tIns="0" rIns="0" bIns="0" rtlCol="0" anchor="t"/>
          <a:lstStyle/>
          <a:p>
            <a:pPr algn="l" indent="0" marL="0">
              <a:lnSpc>
                <a:spcPts val="2150"/>
              </a:lnSpc>
              <a:buNone/>
            </a:pPr>
            <a:r>
              <a:rPr lang="en-US" sz="1450" dirty="0">
                <a:solidFill>
                  <a:srgbClr val="D4D4D1"/>
                </a:solidFill>
                <a:latin typeface="Roboto" pitchFamily="34" charset="0"/>
                <a:ea typeface="Roboto" pitchFamily="34" charset="-122"/>
                <a:cs typeface="Roboto" pitchFamily="34" charset="-120"/>
              </a:rPr>
              <a:t>'SavingsAccount' and 'CheckingAccount' inherit from a base 'BankAccount' class, sharing common functionalities.</a:t>
            </a:r>
            <a:endParaRPr lang="en-US" sz="1450" dirty="0"/>
          </a:p>
        </p:txBody>
      </p:sp>
      <p:sp>
        <p:nvSpPr>
          <p:cNvPr id="19" name="Shape 13"/>
          <p:cNvSpPr/>
          <p:nvPr/>
        </p:nvSpPr>
        <p:spPr>
          <a:xfrm>
            <a:off x="10696575" y="4409122"/>
            <a:ext cx="3144917" cy="2603659"/>
          </a:xfrm>
          <a:prstGeom prst="roundRect">
            <a:avLst>
              <a:gd name="adj" fmla="val 1090"/>
            </a:avLst>
          </a:prstGeom>
          <a:solidFill>
            <a:srgbClr val="484B51"/>
          </a:solidFill>
          <a:ln/>
        </p:spPr>
      </p:sp>
      <p:sp>
        <p:nvSpPr>
          <p:cNvPr id="20" name="Shape 14"/>
          <p:cNvSpPr/>
          <p:nvPr/>
        </p:nvSpPr>
        <p:spPr>
          <a:xfrm>
            <a:off x="10885646" y="4598194"/>
            <a:ext cx="567452" cy="567452"/>
          </a:xfrm>
          <a:prstGeom prst="roundRect">
            <a:avLst>
              <a:gd name="adj" fmla="val 16112527"/>
            </a:avLst>
          </a:prstGeom>
          <a:solidFill>
            <a:srgbClr val="FFBC8F"/>
          </a:solidFill>
          <a:ln/>
        </p:spPr>
      </p:sp>
      <p:pic>
        <p:nvPicPr>
          <p:cNvPr id="2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041737" y="4754166"/>
            <a:ext cx="255270" cy="255270"/>
          </a:xfrm>
          <a:prstGeom prst="rect">
            <a:avLst/>
          </a:prstGeom>
        </p:spPr>
      </p:pic>
      <p:sp>
        <p:nvSpPr>
          <p:cNvPr id="22" name="Text 15"/>
          <p:cNvSpPr/>
          <p:nvPr/>
        </p:nvSpPr>
        <p:spPr>
          <a:xfrm>
            <a:off x="10885646" y="5323403"/>
            <a:ext cx="2364581" cy="295513"/>
          </a:xfrm>
          <a:prstGeom prst="rect">
            <a:avLst/>
          </a:prstGeom>
          <a:noFill/>
          <a:ln/>
        </p:spPr>
        <p:txBody>
          <a:bodyPr wrap="none" lIns="0" tIns="0" rIns="0" bIns="0" rtlCol="0" anchor="t"/>
          <a:lstStyle/>
          <a:p>
            <a:pPr algn="l" indent="0" marL="0">
              <a:lnSpc>
                <a:spcPts val="2300"/>
              </a:lnSpc>
              <a:buNone/>
            </a:pPr>
            <a:r>
              <a:rPr lang="en-US" sz="1850" dirty="0">
                <a:solidFill>
                  <a:srgbClr val="D4D4D1"/>
                </a:solidFill>
                <a:latin typeface="IBM Plex Sans Medium" pitchFamily="34" charset="0"/>
                <a:ea typeface="IBM Plex Sans Medium" pitchFamily="34" charset="-122"/>
                <a:cs typeface="IBM Plex Sans Medium" pitchFamily="34" charset="-120"/>
              </a:rPr>
              <a:t>Polymorphism</a:t>
            </a:r>
            <a:endParaRPr lang="en-US" sz="1850" dirty="0"/>
          </a:p>
        </p:txBody>
      </p:sp>
      <p:sp>
        <p:nvSpPr>
          <p:cNvPr id="23" name="Text 16"/>
          <p:cNvSpPr/>
          <p:nvPr/>
        </p:nvSpPr>
        <p:spPr>
          <a:xfrm>
            <a:off x="10885646" y="5713571"/>
            <a:ext cx="2766774" cy="832604"/>
          </a:xfrm>
          <a:prstGeom prst="rect">
            <a:avLst/>
          </a:prstGeom>
          <a:noFill/>
          <a:ln/>
        </p:spPr>
        <p:txBody>
          <a:bodyPr wrap="square" lIns="0" tIns="0" rIns="0" bIns="0" rtlCol="0" anchor="t"/>
          <a:lstStyle/>
          <a:p>
            <a:pPr algn="l" indent="0" marL="0">
              <a:lnSpc>
                <a:spcPts val="2150"/>
              </a:lnSpc>
              <a:buNone/>
            </a:pPr>
            <a:r>
              <a:rPr lang="en-US" sz="1450" dirty="0">
                <a:solidFill>
                  <a:srgbClr val="D4D4D1"/>
                </a:solidFill>
                <a:latin typeface="Roboto" pitchFamily="34" charset="0"/>
                <a:ea typeface="Roboto" pitchFamily="34" charset="-122"/>
                <a:cs typeface="Roboto" pitchFamily="34" charset="-120"/>
              </a:rPr>
              <a:t>A 'print_statement' function can work with any type of account, be it savings or checking.</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049423" y="1239798"/>
            <a:ext cx="7499152" cy="476964"/>
          </a:xfrm>
          <a:prstGeom prst="rect">
            <a:avLst/>
          </a:prstGeom>
          <a:noFill/>
          <a:ln/>
        </p:spPr>
        <p:txBody>
          <a:bodyPr wrap="none" lIns="0" tIns="0" rIns="0" bIns="0" rtlCol="0" anchor="t"/>
          <a:lstStyle/>
          <a:p>
            <a:pPr algn="l" indent="0" marL="0">
              <a:lnSpc>
                <a:spcPts val="3750"/>
              </a:lnSpc>
              <a:buNone/>
            </a:pPr>
            <a:r>
              <a:rPr lang="en-US" sz="3000" dirty="0">
                <a:solidFill>
                  <a:srgbClr val="F3F3F2"/>
                </a:solidFill>
                <a:latin typeface="IBM Plex Sans Medium" pitchFamily="34" charset="0"/>
                <a:ea typeface="IBM Plex Sans Medium" pitchFamily="34" charset="-122"/>
                <a:cs typeface="IBM Plex Sans Medium" pitchFamily="34" charset="-120"/>
              </a:rPr>
              <a:t>Code Snippet: Encapsulation &amp; Abstraction</a:t>
            </a:r>
            <a:endParaRPr lang="en-US" sz="3000" dirty="0"/>
          </a:p>
        </p:txBody>
      </p:sp>
      <p:sp>
        <p:nvSpPr>
          <p:cNvPr id="3" name="Text 1"/>
          <p:cNvSpPr/>
          <p:nvPr/>
        </p:nvSpPr>
        <p:spPr>
          <a:xfrm>
            <a:off x="2049423" y="1922145"/>
            <a:ext cx="10531554" cy="204192"/>
          </a:xfrm>
          <a:prstGeom prst="rect">
            <a:avLst/>
          </a:prstGeom>
          <a:noFill/>
          <a:ln/>
        </p:spPr>
        <p:txBody>
          <a:bodyPr wrap="none" lIns="0" tIns="0" rIns="0" bIns="0" rtlCol="0" anchor="t"/>
          <a:lstStyle/>
          <a:p>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Here’s how encapsulation protects our </a:t>
            </a:r>
            <a:pPr algn="l" indent="0" marL="0">
              <a:lnSpc>
                <a:spcPts val="1600"/>
              </a:lnSpc>
              <a:buNone/>
            </a:pPr>
            <a:r>
              <a:rPr lang="en-US" sz="1200" dirty="0">
                <a:solidFill>
                  <a:srgbClr val="D4D4D1"/>
                </a:solidFill>
                <a:highlight>
                  <a:srgbClr val="36393F"/>
                </a:highlight>
                <a:latin typeface="Consolas" pitchFamily="34" charset="0"/>
                <a:ea typeface="Consolas" pitchFamily="34" charset="-122"/>
                <a:cs typeface="Consolas" pitchFamily="34" charset="-120"/>
              </a:rPr>
              <a:t>_balance</a:t>
            </a:r>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 and abstraction simplifies interaction.</a:t>
            </a:r>
            <a:endParaRPr lang="en-US" sz="1200" dirty="0"/>
          </a:p>
        </p:txBody>
      </p:sp>
      <p:sp>
        <p:nvSpPr>
          <p:cNvPr id="4" name="Shape 2"/>
          <p:cNvSpPr/>
          <p:nvPr/>
        </p:nvSpPr>
        <p:spPr>
          <a:xfrm>
            <a:off x="1939528" y="2241828"/>
            <a:ext cx="5299472" cy="4747855"/>
          </a:xfrm>
          <a:prstGeom prst="roundRect">
            <a:avLst>
              <a:gd name="adj" fmla="val 482"/>
            </a:avLst>
          </a:prstGeom>
          <a:solidFill>
            <a:srgbClr val="1A1A1A"/>
          </a:solidFill>
          <a:ln/>
        </p:spPr>
      </p:sp>
      <p:sp>
        <p:nvSpPr>
          <p:cNvPr id="5" name="Shape 3"/>
          <p:cNvSpPr/>
          <p:nvPr/>
        </p:nvSpPr>
        <p:spPr>
          <a:xfrm>
            <a:off x="2092047" y="2357318"/>
            <a:ext cx="4994434" cy="4516874"/>
          </a:xfrm>
          <a:prstGeom prst="roundRect">
            <a:avLst>
              <a:gd name="adj" fmla="val 507"/>
            </a:avLst>
          </a:prstGeom>
          <a:solidFill>
            <a:srgbClr val="272727"/>
          </a:solidFill>
          <a:ln/>
        </p:spPr>
      </p:sp>
      <p:sp>
        <p:nvSpPr>
          <p:cNvPr id="6" name="Shape 4"/>
          <p:cNvSpPr/>
          <p:nvPr/>
        </p:nvSpPr>
        <p:spPr>
          <a:xfrm>
            <a:off x="2084427" y="2357318"/>
            <a:ext cx="5009674" cy="4516874"/>
          </a:xfrm>
          <a:prstGeom prst="roundRect">
            <a:avLst>
              <a:gd name="adj" fmla="val 507"/>
            </a:avLst>
          </a:prstGeom>
          <a:solidFill>
            <a:srgbClr val="272727"/>
          </a:solidFill>
          <a:ln/>
        </p:spPr>
      </p:sp>
      <p:sp>
        <p:nvSpPr>
          <p:cNvPr id="7" name="Text 5"/>
          <p:cNvSpPr/>
          <p:nvPr/>
        </p:nvSpPr>
        <p:spPr>
          <a:xfrm>
            <a:off x="2236946" y="2471738"/>
            <a:ext cx="4704636" cy="4288036"/>
          </a:xfrm>
          <a:prstGeom prst="rect">
            <a:avLst/>
          </a:prstGeom>
          <a:noFill/>
          <a:ln/>
        </p:spPr>
        <p:txBody>
          <a:bodyPr wrap="square" lIns="0" tIns="0" rIns="0" bIns="0" rtlCol="0" anchor="t"/>
          <a:lstStyle/>
          <a:p>
            <a:pPr algn="l" indent="0" marL="0">
              <a:lnSpc>
                <a:spcPts val="1600"/>
              </a:lnSpc>
              <a:buNone/>
            </a:pPr>
            <a:r>
              <a:rPr lang="en-US" sz="1200" dirty="0">
                <a:solidFill>
                  <a:srgbClr val="D4D4D1"/>
                </a:solidFill>
                <a:highlight>
                  <a:srgbClr val="272727"/>
                </a:highlight>
                <a:latin typeface="Consolas" pitchFamily="34" charset="0"/>
                <a:ea typeface="Consolas" pitchFamily="34" charset="-122"/>
                <a:cs typeface="Consolas" pitchFamily="34" charset="-120"/>
              </a:rPr>
              <a:t>class BankAccount:
    def __init__(self, initial_balance):
        self.__balance = initial_balance  # Encapsulated attribute
    def deposit(self, amount):
        if amount &gt; 0:
            self.__balance += amount
            print(f"Deposited: ${amount}")
        else:
            print("Deposit amount must be positive.")
    def withdraw(self, amount):
        if 0 &lt; amount &lt;= self.__balance:
            self.__balance -= amount
            print(f"Withdrew: ${amount}")
        else:
            print("Invalid withdrawal amount or insufficient funds.")
    def get_balance(self):
        return self.__balance # Controlled access
</a:t>
            </a:r>
            <a:endParaRPr lang="en-US" sz="1200" dirty="0"/>
          </a:p>
        </p:txBody>
      </p:sp>
      <p:sp>
        <p:nvSpPr>
          <p:cNvPr id="8" name="Text 6"/>
          <p:cNvSpPr/>
          <p:nvPr/>
        </p:nvSpPr>
        <p:spPr>
          <a:xfrm>
            <a:off x="7508915" y="2334220"/>
            <a:ext cx="5079683" cy="408384"/>
          </a:xfrm>
          <a:prstGeom prst="rect">
            <a:avLst/>
          </a:prstGeom>
          <a:noFill/>
          <a:ln/>
        </p:spPr>
        <p:txBody>
          <a:bodyPr wrap="square" lIns="0" tIns="0" rIns="0" bIns="0" rtlCol="0" anchor="t"/>
          <a:lstStyle/>
          <a:p>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In this example, </a:t>
            </a:r>
            <a:pPr algn="l" indent="0" marL="0">
              <a:lnSpc>
                <a:spcPts val="1600"/>
              </a:lnSpc>
              <a:buNone/>
            </a:pPr>
            <a:r>
              <a:rPr lang="en-US" sz="1200" dirty="0">
                <a:solidFill>
                  <a:srgbClr val="D4D4D1"/>
                </a:solidFill>
                <a:highlight>
                  <a:srgbClr val="36393F"/>
                </a:highlight>
                <a:latin typeface="Consolas" pitchFamily="34" charset="0"/>
                <a:ea typeface="Consolas" pitchFamily="34" charset="-122"/>
                <a:cs typeface="Consolas" pitchFamily="34" charset="-120"/>
              </a:rPr>
              <a:t>__balance</a:t>
            </a:r>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 is a "private" attribute, demonstrating encapsulation. Direct access from outside the class is discouraged.</a:t>
            </a:r>
            <a:endParaRPr lang="en-US" sz="1200" dirty="0"/>
          </a:p>
        </p:txBody>
      </p:sp>
      <p:sp>
        <p:nvSpPr>
          <p:cNvPr id="9" name="Text 7"/>
          <p:cNvSpPr/>
          <p:nvPr/>
        </p:nvSpPr>
        <p:spPr>
          <a:xfrm>
            <a:off x="7508915" y="2834997"/>
            <a:ext cx="5079683" cy="816769"/>
          </a:xfrm>
          <a:prstGeom prst="rect">
            <a:avLst/>
          </a:prstGeom>
          <a:noFill/>
          <a:ln/>
        </p:spPr>
        <p:txBody>
          <a:bodyPr wrap="square" lIns="0" tIns="0" rIns="0" bIns="0" rtlCol="0" anchor="t"/>
          <a:lstStyle/>
          <a:p>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The </a:t>
            </a:r>
            <a:pPr algn="l" indent="0" marL="0">
              <a:lnSpc>
                <a:spcPts val="1600"/>
              </a:lnSpc>
              <a:buNone/>
            </a:pPr>
            <a:r>
              <a:rPr lang="en-US" sz="1200" dirty="0">
                <a:solidFill>
                  <a:srgbClr val="D4D4D1"/>
                </a:solidFill>
                <a:highlight>
                  <a:srgbClr val="36393F"/>
                </a:highlight>
                <a:latin typeface="Consolas" pitchFamily="34" charset="0"/>
                <a:ea typeface="Consolas" pitchFamily="34" charset="-122"/>
                <a:cs typeface="Consolas" pitchFamily="34" charset="-120"/>
              </a:rPr>
              <a:t>deposit()</a:t>
            </a:r>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 </a:t>
            </a:r>
            <a:pPr algn="l" indent="0" marL="0">
              <a:lnSpc>
                <a:spcPts val="1600"/>
              </a:lnSpc>
              <a:buNone/>
            </a:pPr>
            <a:r>
              <a:rPr lang="en-US" sz="1200" dirty="0">
                <a:solidFill>
                  <a:srgbClr val="D4D4D1"/>
                </a:solidFill>
                <a:highlight>
                  <a:srgbClr val="36393F"/>
                </a:highlight>
                <a:latin typeface="Consolas" pitchFamily="34" charset="0"/>
                <a:ea typeface="Consolas" pitchFamily="34" charset="-122"/>
                <a:cs typeface="Consolas" pitchFamily="34" charset="-120"/>
              </a:rPr>
              <a:t>withdraw()</a:t>
            </a:r>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 and </a:t>
            </a:r>
            <a:pPr algn="l" indent="0" marL="0">
              <a:lnSpc>
                <a:spcPts val="1600"/>
              </a:lnSpc>
              <a:buNone/>
            </a:pPr>
            <a:r>
              <a:rPr lang="en-US" sz="1200" dirty="0">
                <a:solidFill>
                  <a:srgbClr val="D4D4D1"/>
                </a:solidFill>
                <a:highlight>
                  <a:srgbClr val="36393F"/>
                </a:highlight>
                <a:latin typeface="Consolas" pitchFamily="34" charset="0"/>
                <a:ea typeface="Consolas" pitchFamily="34" charset="-122"/>
                <a:cs typeface="Consolas" pitchFamily="34" charset="-120"/>
              </a:rPr>
              <a:t>get_balance()</a:t>
            </a:r>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 methods provide a clear, abstract interface for interacting with the account, hiding the internal details of how the balance is managed. Users don't need to know about </a:t>
            </a:r>
            <a:pPr algn="l" indent="0" marL="0">
              <a:lnSpc>
                <a:spcPts val="1600"/>
              </a:lnSpc>
              <a:buNone/>
            </a:pPr>
            <a:r>
              <a:rPr lang="en-US" sz="1200" dirty="0">
                <a:solidFill>
                  <a:srgbClr val="D4D4D1"/>
                </a:solidFill>
                <a:highlight>
                  <a:srgbClr val="36393F"/>
                </a:highlight>
                <a:latin typeface="Consolas" pitchFamily="34" charset="0"/>
                <a:ea typeface="Consolas" pitchFamily="34" charset="-122"/>
                <a:cs typeface="Consolas" pitchFamily="34" charset="-120"/>
              </a:rPr>
              <a:t>__balance</a:t>
            </a:r>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 directly.</a:t>
            </a:r>
            <a:endParaRPr lang="en-US" sz="1200" dirty="0"/>
          </a:p>
        </p:txBody>
      </p:sp>
      <p:sp>
        <p:nvSpPr>
          <p:cNvPr id="10" name="Text 8"/>
          <p:cNvSpPr/>
          <p:nvPr/>
        </p:nvSpPr>
        <p:spPr>
          <a:xfrm>
            <a:off x="7508915" y="3744158"/>
            <a:ext cx="5079683" cy="408384"/>
          </a:xfrm>
          <a:prstGeom prst="rect">
            <a:avLst/>
          </a:prstGeom>
          <a:noFill/>
          <a:ln/>
        </p:spPr>
        <p:txBody>
          <a:bodyPr wrap="square" lIns="0" tIns="0" rIns="0" bIns="0" rtlCol="0" anchor="t"/>
          <a:lstStyle/>
          <a:p>
            <a:pPr algn="l" indent="0" marL="0">
              <a:lnSpc>
                <a:spcPts val="1600"/>
              </a:lnSpc>
              <a:buNone/>
            </a:pPr>
            <a:r>
              <a:rPr lang="en-US" sz="1200" dirty="0">
                <a:solidFill>
                  <a:srgbClr val="D4D4D1"/>
                </a:solidFill>
                <a:latin typeface="Roboto" pitchFamily="34" charset="0"/>
                <a:ea typeface="Roboto" pitchFamily="34" charset="-122"/>
                <a:cs typeface="Roboto" pitchFamily="34" charset="-120"/>
              </a:rPr>
              <a:t>This setup ensures that the balance can only be changed in controlled ways, preventing errors and maintaining data integrity.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2026-02-13T09:21:56Z</dcterms:created>
  <dcterms:modified xsi:type="dcterms:W3CDTF">2026-02-13T09:21:56Z</dcterms:modified>
</cp:coreProperties>
</file>