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ter" panose="020B0604020202020204" charset="0"/>
      <p:regular r:id="rId13"/>
    </p:embeddedFont>
    <p:embeddedFont>
      <p:font typeface="Manrope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7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9795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hadoop.apache.or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88" y="2561034"/>
            <a:ext cx="4919305" cy="310741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274546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 Data &amp; Why Hadoop Exists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6280190" y="450318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Introduction to Big Data challenges and how Hadoop addresses them.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6280190" y="512123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Presented by</a:t>
            </a:r>
            <a:r>
              <a:rPr lang="en-US" sz="1750" b="1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:</a:t>
            </a:r>
            <a:r>
              <a:rPr lang="en-US" sz="175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Abdullah Ali </a:t>
            </a: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</a:t>
            </a:r>
            <a:r>
              <a:rPr lang="en-US" sz="17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Date:</a:t>
            </a: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March 2026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87391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Objectives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3007995"/>
            <a:ext cx="4196358" cy="1685092"/>
          </a:xfrm>
          <a:prstGeom prst="roundRect">
            <a:avLst>
              <a:gd name="adj" fmla="val 12115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2424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Big Data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732848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Define the 5 Vs and why they matter operationally.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007995"/>
            <a:ext cx="4196358" cy="1685092"/>
          </a:xfrm>
          <a:prstGeom prst="roundRect">
            <a:avLst>
              <a:gd name="adj" fmla="val 12115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1396" y="32424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Limits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3732848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Why traditional RDBMS struggle with modern scale and variety.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007995"/>
            <a:ext cx="4196358" cy="1685092"/>
          </a:xfrm>
          <a:prstGeom prst="roundRect">
            <a:avLst>
              <a:gd name="adj" fmla="val 12115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4568" y="32424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Scaling Strategies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3732848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Compare vertical vs horizontal approaches and trade-offs.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919901"/>
            <a:ext cx="6407944" cy="1322189"/>
          </a:xfrm>
          <a:prstGeom prst="roundRect">
            <a:avLst>
              <a:gd name="adj" fmla="val 15440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8224" y="51543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Concepts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8224" y="5644753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GFS and MapReduce fundamentals that inspired Hadoop.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919901"/>
            <a:ext cx="6407944" cy="1322189"/>
          </a:xfrm>
          <a:prstGeom prst="roundRect">
            <a:avLst>
              <a:gd name="adj" fmla="val 15440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62982" y="51543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Hadoop Overview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62982" y="5644753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HDFS, YARN, and MapReduce — how they fit together.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5118"/>
            <a:ext cx="634341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Big Data? — The 5 Vs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965722"/>
            <a:ext cx="883920" cy="883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1197" y="1965722"/>
            <a:ext cx="18805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961197" y="2456140"/>
            <a:ext cx="188059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Massive scale: petabytes to exabytes (e.g., social platforms, logs).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278" y="1965722"/>
            <a:ext cx="883920" cy="883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92685" y="1965722"/>
            <a:ext cx="18807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Velocity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92685" y="2456140"/>
            <a:ext cx="188071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 ingest and processing rates — streaming &amp; near‑real‑time needs.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884" y="1965722"/>
            <a:ext cx="883920" cy="8839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24292" y="1965722"/>
            <a:ext cx="18807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Variety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624292" y="2456140"/>
            <a:ext cx="188071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Structured, semi-structured, unstructured (logs, images, JSON, video).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8491" y="1965722"/>
            <a:ext cx="883920" cy="8839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955899" y="1965722"/>
            <a:ext cx="18807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Veracity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1955899" y="2456140"/>
            <a:ext cx="188071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Trust, noise, and quality issues require validation &amp; cleansing.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724281"/>
            <a:ext cx="883920" cy="8839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61197" y="4724281"/>
            <a:ext cx="18805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1961197" y="5214699"/>
            <a:ext cx="188059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Turning raw data into actionable insights drives ROI.</a:t>
            </a:r>
            <a:endParaRPr lang="en-US" sz="1750" dirty="0"/>
          </a:p>
        </p:txBody>
      </p:sp>
      <p:sp>
        <p:nvSpPr>
          <p:cNvPr id="18" name="Text 11"/>
          <p:cNvSpPr/>
          <p:nvPr/>
        </p:nvSpPr>
        <p:spPr>
          <a:xfrm>
            <a:off x="793790" y="692146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Diagram: five interlinked concepts emphasizing interdependence of the Vs.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794" y="2605088"/>
            <a:ext cx="4976813" cy="301930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13303" y="1434227"/>
            <a:ext cx="7012424" cy="509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Problems with Traditional Databases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713303" y="2383274"/>
            <a:ext cx="4842272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- Built for structured schemas and transactional consistency.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713303" y="3167182"/>
            <a:ext cx="4842272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- Vertical scaling dependence: single-machine limits and high cost.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13303" y="3951089"/>
            <a:ext cx="4842272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- Performance degrades with high write/ingest velocity and huge volumes.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13303" y="4734997"/>
            <a:ext cx="4842272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- Hard to store &amp; process unstructured data efficiently.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13303" y="5518904"/>
            <a:ext cx="4842272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- Limited fault tolerance across many failures.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060400" y="2424470"/>
            <a:ext cx="2377797" cy="1892379"/>
          </a:xfrm>
          <a:prstGeom prst="roundRect">
            <a:avLst>
              <a:gd name="adj" fmla="val 9693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286976" y="2651046"/>
            <a:ext cx="1924645" cy="63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Typical Bottleneck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286976" y="3471148"/>
            <a:ext cx="192464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Single I/O, CPU, or memory boundary.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060400" y="4499967"/>
            <a:ext cx="2377797" cy="1573887"/>
          </a:xfrm>
          <a:prstGeom prst="roundRect">
            <a:avLst>
              <a:gd name="adj" fmla="val 11654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286976" y="4726543"/>
            <a:ext cx="1924645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Scaling Cost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286976" y="5228153"/>
            <a:ext cx="192464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Expensive upgrades and license limits.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13303" y="6485811"/>
            <a:ext cx="7717393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Visual: classic DB server with a red bottleneck icon to show single-point strain.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55834"/>
            <a:ext cx="626280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Vertical vs Horizontal Scaling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0897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Vertical Scaling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670929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Upgrade CPU, RAM, disk on one machine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Simple to implement but limited by hardware ceiling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Higher single-unit cost and downtime for upgrades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20897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Horizontal Scaling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2670929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Add commodity nodes to a cluster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Near-linear capacity growth and redundancy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Better fault tolerance and cost-effective at scale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4366055"/>
            <a:ext cx="13042821" cy="35957"/>
          </a:xfrm>
          <a:prstGeom prst="rect">
            <a:avLst/>
          </a:prstGeom>
          <a:solidFill>
            <a:srgbClr val="55575A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93790" y="4657130"/>
            <a:ext cx="13042821" cy="2616518"/>
          </a:xfrm>
          <a:prstGeom prst="roundRect">
            <a:avLst>
              <a:gd name="adj" fmla="val 780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1410" y="4664750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8224" y="480845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Vertical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45824" y="480845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Horizontal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5315069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8224" y="545877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Single powerful machine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45824" y="545877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Many commodity machines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801410" y="5965388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28224" y="6109097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Limited by hardware max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45824" y="6109097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Nearly unlimited scale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801410" y="6615708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28224" y="6759416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Expensive upgrades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545824" y="6759416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Cost-effective expansion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7488" y="1655088"/>
            <a:ext cx="4919424" cy="491942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131" y="725686"/>
            <a:ext cx="7043618" cy="543437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948716" y="2997185"/>
            <a:ext cx="1228446" cy="842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File System (GFS)</a:t>
            </a:r>
            <a:endParaRPr lang="en-US" sz="1750" dirty="0"/>
          </a:p>
        </p:txBody>
      </p:sp>
      <p:sp>
        <p:nvSpPr>
          <p:cNvPr id="6" name="Text 1"/>
          <p:cNvSpPr/>
          <p:nvPr/>
        </p:nvSpPr>
        <p:spPr>
          <a:xfrm>
            <a:off x="5157188" y="4675530"/>
            <a:ext cx="1827531" cy="561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Chunkservers store chunks</a:t>
            </a:r>
            <a:endParaRPr lang="en-US" sz="1750" dirty="0"/>
          </a:p>
        </p:txBody>
      </p:sp>
      <p:sp>
        <p:nvSpPr>
          <p:cNvPr id="7" name="Text 2"/>
          <p:cNvSpPr/>
          <p:nvPr/>
        </p:nvSpPr>
        <p:spPr>
          <a:xfrm>
            <a:off x="5157188" y="5317218"/>
            <a:ext cx="1827531" cy="449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Multiple servers hold chunk data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1342015" y="2877805"/>
            <a:ext cx="1867481" cy="561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locality for compute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1342015" y="3519493"/>
            <a:ext cx="1867481" cy="44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Compute moves to data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2111042" y="4675530"/>
            <a:ext cx="1827531" cy="561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Replication for fault tolerance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2111042" y="5317218"/>
            <a:ext cx="1827531" cy="449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Chunks replicated across servers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5916227" y="2867817"/>
            <a:ext cx="1867481" cy="561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 master metadata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5916227" y="3509505"/>
            <a:ext cx="1867481" cy="44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Tracks namespaces and chunk locations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589171" y="995187"/>
            <a:ext cx="1877468" cy="561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file chunking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3589171" y="1636875"/>
            <a:ext cx="1877468" cy="449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Files split into fixed-size chunks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793790" y="641520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GFS essentials: chunking large files, replication for fault tolerance, single master for metadata and chunk location, and data locality enabling compute-to-data.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133" y="498277"/>
            <a:ext cx="10224135" cy="55868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51342" y="3116066"/>
            <a:ext cx="2369020" cy="3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Phase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9533519" y="3079716"/>
            <a:ext cx="2369020" cy="322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Shuffle/Sort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611192" y="3091355"/>
            <a:ext cx="2369019" cy="3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Phase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585079" y="6221968"/>
            <a:ext cx="11460242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MapReduce pattern: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585079" y="6588919"/>
            <a:ext cx="11460242" cy="775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Map:</a:t>
            </a: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Independent tasks process input splits → emit (key, value).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Shuffle/Sort:</a:t>
            </a: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System groups values by key and moves data across nodes.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Reduce:</a:t>
            </a: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Aggregate or combine grouped data into final results.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585079" y="7501176"/>
            <a:ext cx="11460242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Designed for parallelism, simplicity, and failure recovery (re-run failed map/reduce tasks).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7488" y="1655088"/>
            <a:ext cx="4919424" cy="49194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775930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Hadoop Is</a:t>
            </a:r>
            <a:endParaRPr lang="en-US" sz="355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1683068"/>
            <a:ext cx="453628" cy="45362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530906" y="17609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HDFS (Storage)</a:t>
            </a:r>
            <a:endParaRPr lang="en-US" sz="2200" dirty="0"/>
          </a:p>
        </p:txBody>
      </p:sp>
      <p:sp>
        <p:nvSpPr>
          <p:cNvPr id="7" name="Text 2"/>
          <p:cNvSpPr/>
          <p:nvPr/>
        </p:nvSpPr>
        <p:spPr>
          <a:xfrm>
            <a:off x="1530906" y="2251353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Distributed file system that splits data into blocks (default 128MB), replicates blocks across nodes for durability.</a:t>
            </a:r>
            <a:endParaRPr lang="en-US" sz="17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3430786"/>
            <a:ext cx="453628" cy="45362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530906" y="3508653"/>
            <a:ext cx="35758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YARN (Resource Manager)</a:t>
            </a:r>
            <a:endParaRPr lang="en-US" sz="2200" dirty="0"/>
          </a:p>
        </p:txBody>
      </p:sp>
      <p:sp>
        <p:nvSpPr>
          <p:cNvPr id="10" name="Text 4"/>
          <p:cNvSpPr/>
          <p:nvPr/>
        </p:nvSpPr>
        <p:spPr>
          <a:xfrm>
            <a:off x="1530906" y="3999071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Schedules containers and manages cluster resources for diverse workloads (MapReduce, Spark, etc.).</a:t>
            </a:r>
            <a:endParaRPr lang="en-US" sz="17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5178504"/>
            <a:ext cx="453628" cy="45362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530906" y="5256371"/>
            <a:ext cx="33755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MapReduce (Processing)</a:t>
            </a:r>
            <a:endParaRPr lang="en-US" sz="2200" dirty="0"/>
          </a:p>
        </p:txBody>
      </p:sp>
      <p:sp>
        <p:nvSpPr>
          <p:cNvPr id="13" name="Text 6"/>
          <p:cNvSpPr/>
          <p:nvPr/>
        </p:nvSpPr>
        <p:spPr>
          <a:xfrm>
            <a:off x="1530906" y="5746790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Batch processing engine that runs jobs in parallel using the Map→Shuffle→Reduce model.</a:t>
            </a:r>
            <a:endParaRPr lang="en-US" sz="1750" dirty="0"/>
          </a:p>
        </p:txBody>
      </p:sp>
      <p:sp>
        <p:nvSpPr>
          <p:cNvPr id="14" name="Text 7"/>
          <p:cNvSpPr/>
          <p:nvPr/>
        </p:nvSpPr>
        <p:spPr>
          <a:xfrm>
            <a:off x="793790" y="672774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Hadoop = scalable, fault-tolerant framework inspired by GFS &amp; MapReduce — built for horizontal scale on commodity hardware.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1674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Summary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032278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30906" y="21101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Points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30906" y="2600563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- Big Data (5 Vs) outgrew single-node RDBMS models. Distributed systems are necessary.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530906" y="3099554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- Horizontal scaling + replication enable resilience and capacity.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530906" y="3598545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- GFS and MapReduce introduced practical patterns for storage and compute.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530906" y="4097536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- Hadoop packages these ideas: HDFS for storage, YARN for resource management, MapReduce for processing.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828970"/>
            <a:ext cx="13042821" cy="35957"/>
          </a:xfrm>
          <a:prstGeom prst="rect">
            <a:avLst/>
          </a:prstGeom>
          <a:solidFill>
            <a:srgbClr val="55575A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93790" y="5205055"/>
            <a:ext cx="346233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 Questions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793790" y="5970508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Which industries gain the most from Hadoop-style architectures and why?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does Hadoop detect and recover from node failures?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are modern limitations of Hadoop and common alternatives (e.g., cloud object stores, stream processors)?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88" y="1655088"/>
            <a:ext cx="4919424" cy="49194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9979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You!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14873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Questions?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76678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Learn more: </a:t>
            </a:r>
            <a:r>
              <a:rPr lang="en-US" sz="1750" u="sng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hadoop.apache.org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694</Words>
  <Application>Microsoft Office PowerPoint</Application>
  <PresentationFormat>Custom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Manrope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Abdullah Ali</cp:lastModifiedBy>
  <cp:revision>2</cp:revision>
  <dcterms:created xsi:type="dcterms:W3CDTF">2026-03-06T07:18:50Z</dcterms:created>
  <dcterms:modified xsi:type="dcterms:W3CDTF">2026-03-06T07:24:59Z</dcterms:modified>
</cp:coreProperties>
</file>